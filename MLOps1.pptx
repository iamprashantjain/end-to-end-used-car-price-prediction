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16D00-DBD8-8518-4F8C-CE5401BEEF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5B2690C-1D92-DFF0-907A-07559D00FC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DDBA8B-FC9C-3FB9-27FD-EC0982B6ACC9}"/>
              </a:ext>
            </a:extLst>
          </p:cNvPr>
          <p:cNvSpPr>
            <a:spLocks noGrp="1"/>
          </p:cNvSpPr>
          <p:nvPr>
            <p:ph type="dt" sz="half" idx="10"/>
          </p:nvPr>
        </p:nvSpPr>
        <p:spPr/>
        <p:txBody>
          <a:bodyPr/>
          <a:lstStyle/>
          <a:p>
            <a:fld id="{8340E07E-EE19-4182-A636-F839E11FFF2A}" type="datetimeFigureOut">
              <a:rPr lang="en-US" smtClean="0"/>
              <a:t>11/5/2024</a:t>
            </a:fld>
            <a:endParaRPr lang="en-US"/>
          </a:p>
        </p:txBody>
      </p:sp>
      <p:sp>
        <p:nvSpPr>
          <p:cNvPr id="5" name="Footer Placeholder 4">
            <a:extLst>
              <a:ext uri="{FF2B5EF4-FFF2-40B4-BE49-F238E27FC236}">
                <a16:creationId xmlns:a16="http://schemas.microsoft.com/office/drawing/2014/main" id="{28D13A6B-E2C5-8269-A078-8AFD22A40D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3E1898-00E0-748E-1124-F44B5770063F}"/>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2492771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23B2E-191A-AAE6-CDD4-E54F6007D1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052039-807E-FE55-51BB-127042D93F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A4A2E6-9F2A-F45C-C0F0-CD2A6E6DF7CD}"/>
              </a:ext>
            </a:extLst>
          </p:cNvPr>
          <p:cNvSpPr>
            <a:spLocks noGrp="1"/>
          </p:cNvSpPr>
          <p:nvPr>
            <p:ph type="dt" sz="half" idx="10"/>
          </p:nvPr>
        </p:nvSpPr>
        <p:spPr/>
        <p:txBody>
          <a:bodyPr/>
          <a:lstStyle/>
          <a:p>
            <a:fld id="{8340E07E-EE19-4182-A636-F839E11FFF2A}" type="datetimeFigureOut">
              <a:rPr lang="en-US" smtClean="0"/>
              <a:t>11/5/2024</a:t>
            </a:fld>
            <a:endParaRPr lang="en-US"/>
          </a:p>
        </p:txBody>
      </p:sp>
      <p:sp>
        <p:nvSpPr>
          <p:cNvPr id="5" name="Footer Placeholder 4">
            <a:extLst>
              <a:ext uri="{FF2B5EF4-FFF2-40B4-BE49-F238E27FC236}">
                <a16:creationId xmlns:a16="http://schemas.microsoft.com/office/drawing/2014/main" id="{1090F237-3A7A-0D04-2F3F-60EAF55ABB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064E8B-BA77-C6F8-375F-FE54A7B13F62}"/>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2271087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0A50C-F04F-4A46-C8A3-15C6D7F5E0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83FB0A3-4E56-951F-76C9-AD3FE4B88B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88075A-77A7-473A-E48C-CD9A3F2548A3}"/>
              </a:ext>
            </a:extLst>
          </p:cNvPr>
          <p:cNvSpPr>
            <a:spLocks noGrp="1"/>
          </p:cNvSpPr>
          <p:nvPr>
            <p:ph type="dt" sz="half" idx="10"/>
          </p:nvPr>
        </p:nvSpPr>
        <p:spPr/>
        <p:txBody>
          <a:bodyPr/>
          <a:lstStyle/>
          <a:p>
            <a:fld id="{8340E07E-EE19-4182-A636-F839E11FFF2A}" type="datetimeFigureOut">
              <a:rPr lang="en-US" smtClean="0"/>
              <a:t>11/5/2024</a:t>
            </a:fld>
            <a:endParaRPr lang="en-US"/>
          </a:p>
        </p:txBody>
      </p:sp>
      <p:sp>
        <p:nvSpPr>
          <p:cNvPr id="5" name="Footer Placeholder 4">
            <a:extLst>
              <a:ext uri="{FF2B5EF4-FFF2-40B4-BE49-F238E27FC236}">
                <a16:creationId xmlns:a16="http://schemas.microsoft.com/office/drawing/2014/main" id="{F1998112-1903-93C5-B3D1-90034B9033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95B55B-59FA-DE86-6837-589449711FB8}"/>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2214696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908CF-D702-A0D1-6E12-1508755A2B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560E05-44E0-0AA8-E632-E65DD4574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1DC258-2FA5-ABD9-99D9-8525936ADB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15DECD-36C2-A71D-C4D1-911B17962DE3}"/>
              </a:ext>
            </a:extLst>
          </p:cNvPr>
          <p:cNvSpPr>
            <a:spLocks noGrp="1"/>
          </p:cNvSpPr>
          <p:nvPr>
            <p:ph type="dt" sz="half" idx="10"/>
          </p:nvPr>
        </p:nvSpPr>
        <p:spPr/>
        <p:txBody>
          <a:bodyPr/>
          <a:lstStyle/>
          <a:p>
            <a:fld id="{8340E07E-EE19-4182-A636-F839E11FFF2A}" type="datetimeFigureOut">
              <a:rPr lang="en-US" smtClean="0"/>
              <a:t>11/5/2024</a:t>
            </a:fld>
            <a:endParaRPr lang="en-US"/>
          </a:p>
        </p:txBody>
      </p:sp>
      <p:sp>
        <p:nvSpPr>
          <p:cNvPr id="6" name="Footer Placeholder 5">
            <a:extLst>
              <a:ext uri="{FF2B5EF4-FFF2-40B4-BE49-F238E27FC236}">
                <a16:creationId xmlns:a16="http://schemas.microsoft.com/office/drawing/2014/main" id="{6CE0E69B-76BE-FB6C-57E5-E3A64B0BD0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208BAA-19AB-76ED-AC13-2B101D891D8E}"/>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2237927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45635-58DF-7472-4A7F-7E2A532FC97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3F4CC68-CF50-1E63-1362-F73216444E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19E74F-61BB-396F-63C7-37A7E7AEE5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C9A5AD-0574-6EFD-1B58-8D163C008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5C3CF2-D6D5-761D-D49D-F08943E1EE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449EF1-D0BE-6882-D193-BD4ED6EEB74B}"/>
              </a:ext>
            </a:extLst>
          </p:cNvPr>
          <p:cNvSpPr>
            <a:spLocks noGrp="1"/>
          </p:cNvSpPr>
          <p:nvPr>
            <p:ph type="dt" sz="half" idx="10"/>
          </p:nvPr>
        </p:nvSpPr>
        <p:spPr/>
        <p:txBody>
          <a:bodyPr/>
          <a:lstStyle/>
          <a:p>
            <a:fld id="{8340E07E-EE19-4182-A636-F839E11FFF2A}" type="datetimeFigureOut">
              <a:rPr lang="en-US" smtClean="0"/>
              <a:t>11/5/2024</a:t>
            </a:fld>
            <a:endParaRPr lang="en-US"/>
          </a:p>
        </p:txBody>
      </p:sp>
      <p:sp>
        <p:nvSpPr>
          <p:cNvPr id="8" name="Footer Placeholder 7">
            <a:extLst>
              <a:ext uri="{FF2B5EF4-FFF2-40B4-BE49-F238E27FC236}">
                <a16:creationId xmlns:a16="http://schemas.microsoft.com/office/drawing/2014/main" id="{51884EC8-8A82-7650-6C06-9E69690AADA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6B0F2AF-AA5B-302C-8D2E-D7D8B2889F85}"/>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2649943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E59E3-A1C2-6B6E-1777-C3849AA53C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F7E576-24A6-9FD6-185D-A9A46867EF31}"/>
              </a:ext>
            </a:extLst>
          </p:cNvPr>
          <p:cNvSpPr>
            <a:spLocks noGrp="1"/>
          </p:cNvSpPr>
          <p:nvPr>
            <p:ph type="dt" sz="half" idx="10"/>
          </p:nvPr>
        </p:nvSpPr>
        <p:spPr/>
        <p:txBody>
          <a:bodyPr/>
          <a:lstStyle/>
          <a:p>
            <a:fld id="{8340E07E-EE19-4182-A636-F839E11FFF2A}" type="datetimeFigureOut">
              <a:rPr lang="en-US" smtClean="0"/>
              <a:t>11/5/2024</a:t>
            </a:fld>
            <a:endParaRPr lang="en-US"/>
          </a:p>
        </p:txBody>
      </p:sp>
      <p:sp>
        <p:nvSpPr>
          <p:cNvPr id="4" name="Footer Placeholder 3">
            <a:extLst>
              <a:ext uri="{FF2B5EF4-FFF2-40B4-BE49-F238E27FC236}">
                <a16:creationId xmlns:a16="http://schemas.microsoft.com/office/drawing/2014/main" id="{776F5817-4F99-BB23-51FD-3974FC16C3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90F8D0-B2B8-8BEA-AA19-26F32CF1F435}"/>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1662113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5ACEA3-CDF7-29DF-BA89-24248F217032}"/>
              </a:ext>
            </a:extLst>
          </p:cNvPr>
          <p:cNvSpPr>
            <a:spLocks noGrp="1"/>
          </p:cNvSpPr>
          <p:nvPr>
            <p:ph type="dt" sz="half" idx="10"/>
          </p:nvPr>
        </p:nvSpPr>
        <p:spPr/>
        <p:txBody>
          <a:bodyPr/>
          <a:lstStyle/>
          <a:p>
            <a:fld id="{8340E07E-EE19-4182-A636-F839E11FFF2A}" type="datetimeFigureOut">
              <a:rPr lang="en-US" smtClean="0"/>
              <a:t>11/5/2024</a:t>
            </a:fld>
            <a:endParaRPr lang="en-US"/>
          </a:p>
        </p:txBody>
      </p:sp>
      <p:sp>
        <p:nvSpPr>
          <p:cNvPr id="3" name="Footer Placeholder 2">
            <a:extLst>
              <a:ext uri="{FF2B5EF4-FFF2-40B4-BE49-F238E27FC236}">
                <a16:creationId xmlns:a16="http://schemas.microsoft.com/office/drawing/2014/main" id="{B24592A4-74DF-05D9-1CF3-AEB47E6523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7BCB884-A340-4310-B045-F6FDF69B8ACA}"/>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1839681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E96C2-FA11-D193-0686-856FE9C123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5E6CBA-4D14-FF80-797C-FA5ECE3E44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0D57A6-57DE-5A47-ED04-A58C4B9DF3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A3DDBD-B1A0-7B5B-5573-D0348E3B0395}"/>
              </a:ext>
            </a:extLst>
          </p:cNvPr>
          <p:cNvSpPr>
            <a:spLocks noGrp="1"/>
          </p:cNvSpPr>
          <p:nvPr>
            <p:ph type="dt" sz="half" idx="10"/>
          </p:nvPr>
        </p:nvSpPr>
        <p:spPr/>
        <p:txBody>
          <a:bodyPr/>
          <a:lstStyle/>
          <a:p>
            <a:fld id="{8340E07E-EE19-4182-A636-F839E11FFF2A}" type="datetimeFigureOut">
              <a:rPr lang="en-US" smtClean="0"/>
              <a:t>11/5/2024</a:t>
            </a:fld>
            <a:endParaRPr lang="en-US"/>
          </a:p>
        </p:txBody>
      </p:sp>
      <p:sp>
        <p:nvSpPr>
          <p:cNvPr id="6" name="Footer Placeholder 5">
            <a:extLst>
              <a:ext uri="{FF2B5EF4-FFF2-40B4-BE49-F238E27FC236}">
                <a16:creationId xmlns:a16="http://schemas.microsoft.com/office/drawing/2014/main" id="{D42F2E80-FC4A-1509-9CE7-13213F62BE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B1B55C-FB61-DFEF-096C-E948E99B8575}"/>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681547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0C050-4186-A9FA-7683-44D2CAEAE9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F8CF566-0873-B37F-71AD-A9F0519520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059CE1-64B0-B6F4-99C4-1CB43592F4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7AA97D-89A1-E0B6-2F5A-78E4B2A3E5E9}"/>
              </a:ext>
            </a:extLst>
          </p:cNvPr>
          <p:cNvSpPr>
            <a:spLocks noGrp="1"/>
          </p:cNvSpPr>
          <p:nvPr>
            <p:ph type="dt" sz="half" idx="10"/>
          </p:nvPr>
        </p:nvSpPr>
        <p:spPr/>
        <p:txBody>
          <a:bodyPr/>
          <a:lstStyle/>
          <a:p>
            <a:fld id="{8340E07E-EE19-4182-A636-F839E11FFF2A}" type="datetimeFigureOut">
              <a:rPr lang="en-US" smtClean="0"/>
              <a:t>11/5/2024</a:t>
            </a:fld>
            <a:endParaRPr lang="en-US"/>
          </a:p>
        </p:txBody>
      </p:sp>
      <p:sp>
        <p:nvSpPr>
          <p:cNvPr id="6" name="Footer Placeholder 5">
            <a:extLst>
              <a:ext uri="{FF2B5EF4-FFF2-40B4-BE49-F238E27FC236}">
                <a16:creationId xmlns:a16="http://schemas.microsoft.com/office/drawing/2014/main" id="{99890693-E1B6-E604-3FD2-2D7572AA33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FD3790-0FCC-327E-E2AD-F1BAE3F8E860}"/>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989250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D166-75D8-DCFC-2AD4-392D480DFB8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B7E93B-16CA-87FE-DD43-6E319C1A26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E1AC42-A274-12D0-5CFF-BAE4312CA079}"/>
              </a:ext>
            </a:extLst>
          </p:cNvPr>
          <p:cNvSpPr>
            <a:spLocks noGrp="1"/>
          </p:cNvSpPr>
          <p:nvPr>
            <p:ph type="dt" sz="half" idx="10"/>
          </p:nvPr>
        </p:nvSpPr>
        <p:spPr/>
        <p:txBody>
          <a:bodyPr/>
          <a:lstStyle/>
          <a:p>
            <a:fld id="{8340E07E-EE19-4182-A636-F839E11FFF2A}" type="datetimeFigureOut">
              <a:rPr lang="en-US" smtClean="0"/>
              <a:t>11/5/2024</a:t>
            </a:fld>
            <a:endParaRPr lang="en-US"/>
          </a:p>
        </p:txBody>
      </p:sp>
      <p:sp>
        <p:nvSpPr>
          <p:cNvPr id="5" name="Footer Placeholder 4">
            <a:extLst>
              <a:ext uri="{FF2B5EF4-FFF2-40B4-BE49-F238E27FC236}">
                <a16:creationId xmlns:a16="http://schemas.microsoft.com/office/drawing/2014/main" id="{7E60A10A-7D73-9B9C-0E7F-42B1BAAAB4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AE674F-929D-DFFF-18FD-E1CB7AAF8E16}"/>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1589503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51A2E9-EF37-3673-40EF-70A90A387E9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7F082A-60AC-87BD-7932-827543FFEC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001068-A784-E615-015A-2FC3000B00C9}"/>
              </a:ext>
            </a:extLst>
          </p:cNvPr>
          <p:cNvSpPr>
            <a:spLocks noGrp="1"/>
          </p:cNvSpPr>
          <p:nvPr>
            <p:ph type="dt" sz="half" idx="10"/>
          </p:nvPr>
        </p:nvSpPr>
        <p:spPr/>
        <p:txBody>
          <a:bodyPr/>
          <a:lstStyle/>
          <a:p>
            <a:fld id="{8340E07E-EE19-4182-A636-F839E11FFF2A}" type="datetimeFigureOut">
              <a:rPr lang="en-US" smtClean="0"/>
              <a:t>11/5/2024</a:t>
            </a:fld>
            <a:endParaRPr lang="en-US"/>
          </a:p>
        </p:txBody>
      </p:sp>
      <p:sp>
        <p:nvSpPr>
          <p:cNvPr id="5" name="Footer Placeholder 4">
            <a:extLst>
              <a:ext uri="{FF2B5EF4-FFF2-40B4-BE49-F238E27FC236}">
                <a16:creationId xmlns:a16="http://schemas.microsoft.com/office/drawing/2014/main" id="{9085F82F-9494-3254-8234-A10F86C3CC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7C54E6-10B8-1968-449A-616E5E97868C}"/>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342635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A10BE9-0605-75ED-1112-D808C19C9D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E2E7236-F75A-E80D-A417-F114BF6E0D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AC357E-7FCF-912C-C558-EEBD2F91FE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40E07E-EE19-4182-A636-F839E11FFF2A}" type="datetimeFigureOut">
              <a:rPr lang="en-US" smtClean="0"/>
              <a:t>11/5/2024</a:t>
            </a:fld>
            <a:endParaRPr lang="en-US"/>
          </a:p>
        </p:txBody>
      </p:sp>
      <p:sp>
        <p:nvSpPr>
          <p:cNvPr id="5" name="Footer Placeholder 4">
            <a:extLst>
              <a:ext uri="{FF2B5EF4-FFF2-40B4-BE49-F238E27FC236}">
                <a16:creationId xmlns:a16="http://schemas.microsoft.com/office/drawing/2014/main" id="{5B67EA33-49DB-52B6-A291-3B3A5DC236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E21DEBE-3E31-59FE-27D2-ACF4F967DD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D36F63-5488-4587-BBC2-F33C82C8BF3C}" type="slidenum">
              <a:rPr lang="en-US" smtClean="0"/>
              <a:t>‹#›</a:t>
            </a:fld>
            <a:endParaRPr lang="en-US"/>
          </a:p>
        </p:txBody>
      </p:sp>
    </p:spTree>
    <p:extLst>
      <p:ext uri="{BB962C8B-B14F-4D97-AF65-F5344CB8AC3E}">
        <p14:creationId xmlns:p14="http://schemas.microsoft.com/office/powerpoint/2010/main" val="39371693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NUL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localhost:5000/" TargetMode="Externa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787081C-6552-2714-3908-B009070AC844}"/>
              </a:ext>
            </a:extLst>
          </p:cNvPr>
          <p:cNvCxnSpPr/>
          <p:nvPr/>
        </p:nvCxnSpPr>
        <p:spPr>
          <a:xfrm>
            <a:off x="4087368" y="1097280"/>
            <a:ext cx="36667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C9BB709-A3D9-BAF6-A066-8B197DEE1E39}"/>
              </a:ext>
            </a:extLst>
          </p:cNvPr>
          <p:cNvCxnSpPr/>
          <p:nvPr/>
        </p:nvCxnSpPr>
        <p:spPr>
          <a:xfrm>
            <a:off x="4087368" y="1097280"/>
            <a:ext cx="0" cy="4023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24CF0B1-8F07-479C-9003-EA6BFC1E2463}"/>
              </a:ext>
            </a:extLst>
          </p:cNvPr>
          <p:cNvCxnSpPr>
            <a:cxnSpLocks/>
          </p:cNvCxnSpPr>
          <p:nvPr/>
        </p:nvCxnSpPr>
        <p:spPr>
          <a:xfrm>
            <a:off x="7754112" y="1097280"/>
            <a:ext cx="0" cy="1154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6054DC2-C85D-5350-4252-2F03147ACFD4}"/>
              </a:ext>
            </a:extLst>
          </p:cNvPr>
          <p:cNvSpPr txBox="1"/>
          <p:nvPr/>
        </p:nvSpPr>
        <p:spPr>
          <a:xfrm>
            <a:off x="3155061" y="1506974"/>
            <a:ext cx="1864613" cy="369332"/>
          </a:xfrm>
          <a:prstGeom prst="rect">
            <a:avLst/>
          </a:prstGeom>
          <a:noFill/>
        </p:spPr>
        <p:txBody>
          <a:bodyPr wrap="none" rtlCol="0">
            <a:spAutoFit/>
          </a:bodyPr>
          <a:lstStyle/>
          <a:p>
            <a:r>
              <a:rPr lang="en-US" dirty="0"/>
              <a:t>Machine Learning</a:t>
            </a:r>
          </a:p>
        </p:txBody>
      </p:sp>
      <p:sp>
        <p:nvSpPr>
          <p:cNvPr id="10" name="TextBox 9">
            <a:extLst>
              <a:ext uri="{FF2B5EF4-FFF2-40B4-BE49-F238E27FC236}">
                <a16:creationId xmlns:a16="http://schemas.microsoft.com/office/drawing/2014/main" id="{9EEFE3F0-82AE-229D-1D49-1E2FE03BC8A3}"/>
              </a:ext>
            </a:extLst>
          </p:cNvPr>
          <p:cNvSpPr txBox="1"/>
          <p:nvPr/>
        </p:nvSpPr>
        <p:spPr>
          <a:xfrm>
            <a:off x="7347321" y="2251948"/>
            <a:ext cx="1221360" cy="369332"/>
          </a:xfrm>
          <a:prstGeom prst="rect">
            <a:avLst/>
          </a:prstGeom>
          <a:noFill/>
        </p:spPr>
        <p:txBody>
          <a:bodyPr wrap="none" rtlCol="0">
            <a:spAutoFit/>
          </a:bodyPr>
          <a:lstStyle/>
          <a:p>
            <a:r>
              <a:rPr lang="en-US" dirty="0"/>
              <a:t>Operations</a:t>
            </a:r>
          </a:p>
        </p:txBody>
      </p:sp>
      <p:cxnSp>
        <p:nvCxnSpPr>
          <p:cNvPr id="12" name="Straight Connector 11">
            <a:extLst>
              <a:ext uri="{FF2B5EF4-FFF2-40B4-BE49-F238E27FC236}">
                <a16:creationId xmlns:a16="http://schemas.microsoft.com/office/drawing/2014/main" id="{72951807-727E-DF8C-3D6E-587DC20B67F9}"/>
              </a:ext>
            </a:extLst>
          </p:cNvPr>
          <p:cNvCxnSpPr>
            <a:cxnSpLocks/>
            <a:stCxn id="9" idx="2"/>
          </p:cNvCxnSpPr>
          <p:nvPr/>
        </p:nvCxnSpPr>
        <p:spPr>
          <a:xfrm flipH="1">
            <a:off x="4063135" y="1876306"/>
            <a:ext cx="24233" cy="4762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D55999E-92B2-EA7B-D5BC-F5A9380E51BB}"/>
              </a:ext>
            </a:extLst>
          </p:cNvPr>
          <p:cNvCxnSpPr/>
          <p:nvPr/>
        </p:nvCxnSpPr>
        <p:spPr>
          <a:xfrm>
            <a:off x="4087367" y="2103120"/>
            <a:ext cx="2651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1906394-317F-68D3-C49A-6BFB5E0A8778}"/>
              </a:ext>
            </a:extLst>
          </p:cNvPr>
          <p:cNvSpPr txBox="1"/>
          <p:nvPr/>
        </p:nvSpPr>
        <p:spPr>
          <a:xfrm>
            <a:off x="4352544" y="1949231"/>
            <a:ext cx="1261051" cy="307777"/>
          </a:xfrm>
          <a:prstGeom prst="rect">
            <a:avLst/>
          </a:prstGeom>
          <a:noFill/>
        </p:spPr>
        <p:txBody>
          <a:bodyPr wrap="none" rtlCol="0">
            <a:spAutoFit/>
          </a:bodyPr>
          <a:lstStyle/>
          <a:p>
            <a:r>
              <a:rPr lang="en-US" sz="1400" dirty="0"/>
              <a:t>Data gathering</a:t>
            </a:r>
          </a:p>
        </p:txBody>
      </p:sp>
      <p:cxnSp>
        <p:nvCxnSpPr>
          <p:cNvPr id="16" name="Straight Arrow Connector 15">
            <a:extLst>
              <a:ext uri="{FF2B5EF4-FFF2-40B4-BE49-F238E27FC236}">
                <a16:creationId xmlns:a16="http://schemas.microsoft.com/office/drawing/2014/main" id="{2DE83224-B23F-18D1-5247-18B4F4D0DED0}"/>
              </a:ext>
            </a:extLst>
          </p:cNvPr>
          <p:cNvCxnSpPr/>
          <p:nvPr/>
        </p:nvCxnSpPr>
        <p:spPr>
          <a:xfrm>
            <a:off x="4087366" y="2621280"/>
            <a:ext cx="2651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3119780-4244-CDDD-64ED-C8BA283D0804}"/>
              </a:ext>
            </a:extLst>
          </p:cNvPr>
          <p:cNvSpPr txBox="1"/>
          <p:nvPr/>
        </p:nvSpPr>
        <p:spPr>
          <a:xfrm>
            <a:off x="4352543" y="2483822"/>
            <a:ext cx="1174681" cy="307777"/>
          </a:xfrm>
          <a:prstGeom prst="rect">
            <a:avLst/>
          </a:prstGeom>
          <a:noFill/>
        </p:spPr>
        <p:txBody>
          <a:bodyPr wrap="none" rtlCol="0">
            <a:spAutoFit/>
          </a:bodyPr>
          <a:lstStyle/>
          <a:p>
            <a:r>
              <a:rPr lang="en-US" sz="1400" dirty="0"/>
              <a:t>Data cleaning</a:t>
            </a:r>
          </a:p>
        </p:txBody>
      </p:sp>
      <p:cxnSp>
        <p:nvCxnSpPr>
          <p:cNvPr id="18" name="Straight Arrow Connector 17">
            <a:extLst>
              <a:ext uri="{FF2B5EF4-FFF2-40B4-BE49-F238E27FC236}">
                <a16:creationId xmlns:a16="http://schemas.microsoft.com/office/drawing/2014/main" id="{FDC194DF-52DA-2F59-B2B1-0DC17BF3BF97}"/>
              </a:ext>
            </a:extLst>
          </p:cNvPr>
          <p:cNvCxnSpPr/>
          <p:nvPr/>
        </p:nvCxnSpPr>
        <p:spPr>
          <a:xfrm>
            <a:off x="4087366" y="3203448"/>
            <a:ext cx="2651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B16705E-C660-4F11-C856-E5692F42FBE7}"/>
              </a:ext>
            </a:extLst>
          </p:cNvPr>
          <p:cNvSpPr txBox="1"/>
          <p:nvPr/>
        </p:nvSpPr>
        <p:spPr>
          <a:xfrm>
            <a:off x="4376773" y="3049559"/>
            <a:ext cx="485005" cy="307777"/>
          </a:xfrm>
          <a:prstGeom prst="rect">
            <a:avLst/>
          </a:prstGeom>
          <a:noFill/>
        </p:spPr>
        <p:txBody>
          <a:bodyPr wrap="none" rtlCol="0">
            <a:spAutoFit/>
          </a:bodyPr>
          <a:lstStyle/>
          <a:p>
            <a:r>
              <a:rPr lang="en-US" sz="1400" dirty="0"/>
              <a:t>EDA</a:t>
            </a:r>
          </a:p>
        </p:txBody>
      </p:sp>
      <p:cxnSp>
        <p:nvCxnSpPr>
          <p:cNvPr id="20" name="Straight Arrow Connector 19">
            <a:extLst>
              <a:ext uri="{FF2B5EF4-FFF2-40B4-BE49-F238E27FC236}">
                <a16:creationId xmlns:a16="http://schemas.microsoft.com/office/drawing/2014/main" id="{F1F58B13-8980-E12F-F682-A98B413B4D29}"/>
              </a:ext>
            </a:extLst>
          </p:cNvPr>
          <p:cNvCxnSpPr/>
          <p:nvPr/>
        </p:nvCxnSpPr>
        <p:spPr>
          <a:xfrm>
            <a:off x="4087365" y="3730752"/>
            <a:ext cx="2651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322A43C-8D61-A8F1-F0E5-C238BDE4CCFB}"/>
              </a:ext>
            </a:extLst>
          </p:cNvPr>
          <p:cNvSpPr txBox="1"/>
          <p:nvPr/>
        </p:nvSpPr>
        <p:spPr>
          <a:xfrm>
            <a:off x="4376772" y="3604665"/>
            <a:ext cx="1651158" cy="307777"/>
          </a:xfrm>
          <a:prstGeom prst="rect">
            <a:avLst/>
          </a:prstGeom>
          <a:noFill/>
        </p:spPr>
        <p:txBody>
          <a:bodyPr wrap="none" rtlCol="0">
            <a:spAutoFit/>
          </a:bodyPr>
          <a:lstStyle/>
          <a:p>
            <a:r>
              <a:rPr lang="en-US" sz="1400" dirty="0"/>
              <a:t>Feature Engineering</a:t>
            </a:r>
          </a:p>
        </p:txBody>
      </p:sp>
      <p:cxnSp>
        <p:nvCxnSpPr>
          <p:cNvPr id="23" name="Straight Arrow Connector 22">
            <a:extLst>
              <a:ext uri="{FF2B5EF4-FFF2-40B4-BE49-F238E27FC236}">
                <a16:creationId xmlns:a16="http://schemas.microsoft.com/office/drawing/2014/main" id="{46E53796-AF14-ECDA-C1BA-AFFD5559DC9A}"/>
              </a:ext>
            </a:extLst>
          </p:cNvPr>
          <p:cNvCxnSpPr/>
          <p:nvPr/>
        </p:nvCxnSpPr>
        <p:spPr>
          <a:xfrm>
            <a:off x="4075250" y="4422648"/>
            <a:ext cx="2651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C5BFA78-06E5-BB77-BF3A-6B4AB8801678}"/>
              </a:ext>
            </a:extLst>
          </p:cNvPr>
          <p:cNvSpPr txBox="1"/>
          <p:nvPr/>
        </p:nvSpPr>
        <p:spPr>
          <a:xfrm>
            <a:off x="4389596" y="4268759"/>
            <a:ext cx="1279133" cy="307777"/>
          </a:xfrm>
          <a:prstGeom prst="rect">
            <a:avLst/>
          </a:prstGeom>
          <a:noFill/>
        </p:spPr>
        <p:txBody>
          <a:bodyPr wrap="none" rtlCol="0">
            <a:spAutoFit/>
          </a:bodyPr>
          <a:lstStyle/>
          <a:p>
            <a:r>
              <a:rPr lang="en-US" sz="1400" dirty="0"/>
              <a:t>Model Training</a:t>
            </a:r>
          </a:p>
        </p:txBody>
      </p:sp>
      <p:cxnSp>
        <p:nvCxnSpPr>
          <p:cNvPr id="25" name="Straight Arrow Connector 24">
            <a:extLst>
              <a:ext uri="{FF2B5EF4-FFF2-40B4-BE49-F238E27FC236}">
                <a16:creationId xmlns:a16="http://schemas.microsoft.com/office/drawing/2014/main" id="{7056F49D-929F-7E8F-ACDA-8C6D07365779}"/>
              </a:ext>
            </a:extLst>
          </p:cNvPr>
          <p:cNvCxnSpPr/>
          <p:nvPr/>
        </p:nvCxnSpPr>
        <p:spPr>
          <a:xfrm>
            <a:off x="4063135" y="5077967"/>
            <a:ext cx="2651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BAE59C2-58FD-5F6C-7E64-EF529E0DBBF3}"/>
              </a:ext>
            </a:extLst>
          </p:cNvPr>
          <p:cNvSpPr txBox="1"/>
          <p:nvPr/>
        </p:nvSpPr>
        <p:spPr>
          <a:xfrm>
            <a:off x="4367990" y="4924079"/>
            <a:ext cx="1461747" cy="307777"/>
          </a:xfrm>
          <a:prstGeom prst="rect">
            <a:avLst/>
          </a:prstGeom>
          <a:noFill/>
        </p:spPr>
        <p:txBody>
          <a:bodyPr wrap="none" rtlCol="0">
            <a:spAutoFit/>
          </a:bodyPr>
          <a:lstStyle/>
          <a:p>
            <a:r>
              <a:rPr lang="en-US" sz="1400" dirty="0"/>
              <a:t>Model Evaluation</a:t>
            </a:r>
          </a:p>
        </p:txBody>
      </p:sp>
      <p:sp>
        <p:nvSpPr>
          <p:cNvPr id="27" name="TextBox 26">
            <a:extLst>
              <a:ext uri="{FF2B5EF4-FFF2-40B4-BE49-F238E27FC236}">
                <a16:creationId xmlns:a16="http://schemas.microsoft.com/office/drawing/2014/main" id="{D3E6AC91-8B05-14C9-957D-CC20D7D95EBF}"/>
              </a:ext>
            </a:extLst>
          </p:cNvPr>
          <p:cNvSpPr txBox="1"/>
          <p:nvPr/>
        </p:nvSpPr>
        <p:spPr>
          <a:xfrm>
            <a:off x="5829737" y="1272201"/>
            <a:ext cx="604667" cy="707886"/>
          </a:xfrm>
          <a:prstGeom prst="rect">
            <a:avLst/>
          </a:prstGeom>
          <a:noFill/>
        </p:spPr>
        <p:txBody>
          <a:bodyPr wrap="square" rtlCol="0">
            <a:spAutoFit/>
          </a:bodyPr>
          <a:lstStyle/>
          <a:p>
            <a:r>
              <a:rPr lang="en-US" sz="4000" dirty="0"/>
              <a:t>+</a:t>
            </a:r>
          </a:p>
        </p:txBody>
      </p:sp>
      <p:cxnSp>
        <p:nvCxnSpPr>
          <p:cNvPr id="29" name="Straight Arrow Connector 28">
            <a:extLst>
              <a:ext uri="{FF2B5EF4-FFF2-40B4-BE49-F238E27FC236}">
                <a16:creationId xmlns:a16="http://schemas.microsoft.com/office/drawing/2014/main" id="{191BA6AD-5B97-FD27-7932-174A8BF67029}"/>
              </a:ext>
            </a:extLst>
          </p:cNvPr>
          <p:cNvCxnSpPr/>
          <p:nvPr/>
        </p:nvCxnSpPr>
        <p:spPr>
          <a:xfrm>
            <a:off x="4067858" y="5788151"/>
            <a:ext cx="2651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E8AC7D02-8AE3-EF5D-380A-32840163811E}"/>
              </a:ext>
            </a:extLst>
          </p:cNvPr>
          <p:cNvSpPr txBox="1"/>
          <p:nvPr/>
        </p:nvSpPr>
        <p:spPr>
          <a:xfrm>
            <a:off x="4348124" y="5634262"/>
            <a:ext cx="697307" cy="307777"/>
          </a:xfrm>
          <a:prstGeom prst="rect">
            <a:avLst/>
          </a:prstGeom>
          <a:noFill/>
        </p:spPr>
        <p:txBody>
          <a:bodyPr wrap="none" rtlCol="0">
            <a:spAutoFit/>
          </a:bodyPr>
          <a:lstStyle/>
          <a:p>
            <a:r>
              <a:rPr lang="en-US" sz="1400" dirty="0"/>
              <a:t>Testing</a:t>
            </a:r>
          </a:p>
        </p:txBody>
      </p:sp>
      <p:cxnSp>
        <p:nvCxnSpPr>
          <p:cNvPr id="31" name="Straight Arrow Connector 30">
            <a:extLst>
              <a:ext uri="{FF2B5EF4-FFF2-40B4-BE49-F238E27FC236}">
                <a16:creationId xmlns:a16="http://schemas.microsoft.com/office/drawing/2014/main" id="{9CA7E9E9-1F2B-81DD-6041-F434F09291C1}"/>
              </a:ext>
            </a:extLst>
          </p:cNvPr>
          <p:cNvCxnSpPr/>
          <p:nvPr/>
        </p:nvCxnSpPr>
        <p:spPr>
          <a:xfrm>
            <a:off x="4062064" y="6385188"/>
            <a:ext cx="2651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2851A3C2-9091-F98F-0B14-4AB45C711617}"/>
              </a:ext>
            </a:extLst>
          </p:cNvPr>
          <p:cNvSpPr txBox="1"/>
          <p:nvPr/>
        </p:nvSpPr>
        <p:spPr>
          <a:xfrm>
            <a:off x="4309915" y="6243493"/>
            <a:ext cx="409086" cy="307777"/>
          </a:xfrm>
          <a:prstGeom prst="rect">
            <a:avLst/>
          </a:prstGeom>
          <a:noFill/>
        </p:spPr>
        <p:txBody>
          <a:bodyPr wrap="none" rtlCol="0">
            <a:spAutoFit/>
          </a:bodyPr>
          <a:lstStyle/>
          <a:p>
            <a:r>
              <a:rPr lang="en-US" sz="1400" dirty="0"/>
              <a:t>QA</a:t>
            </a:r>
          </a:p>
        </p:txBody>
      </p:sp>
      <p:cxnSp>
        <p:nvCxnSpPr>
          <p:cNvPr id="36" name="Straight Connector 35">
            <a:extLst>
              <a:ext uri="{FF2B5EF4-FFF2-40B4-BE49-F238E27FC236}">
                <a16:creationId xmlns:a16="http://schemas.microsoft.com/office/drawing/2014/main" id="{B153F3BB-E280-2CD6-419F-DE4D1A1C9EF8}"/>
              </a:ext>
            </a:extLst>
          </p:cNvPr>
          <p:cNvCxnSpPr>
            <a:cxnSpLocks/>
          </p:cNvCxnSpPr>
          <p:nvPr/>
        </p:nvCxnSpPr>
        <p:spPr>
          <a:xfrm>
            <a:off x="9262872" y="2637710"/>
            <a:ext cx="0" cy="2286369"/>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C2D5B2F-ED26-D83D-E378-59DDC8326A62}"/>
              </a:ext>
            </a:extLst>
          </p:cNvPr>
          <p:cNvCxnSpPr>
            <a:cxnSpLocks/>
          </p:cNvCxnSpPr>
          <p:nvPr/>
        </p:nvCxnSpPr>
        <p:spPr>
          <a:xfrm flipH="1">
            <a:off x="8906256" y="2889504"/>
            <a:ext cx="3566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050D3266-118D-CFA5-6BE0-5439BA42AA3D}"/>
              </a:ext>
            </a:extLst>
          </p:cNvPr>
          <p:cNvSpPr txBox="1"/>
          <p:nvPr/>
        </p:nvSpPr>
        <p:spPr>
          <a:xfrm>
            <a:off x="8177003" y="2741782"/>
            <a:ext cx="783356" cy="307777"/>
          </a:xfrm>
          <a:prstGeom prst="rect">
            <a:avLst/>
          </a:prstGeom>
          <a:noFill/>
        </p:spPr>
        <p:txBody>
          <a:bodyPr wrap="none" rtlCol="0">
            <a:spAutoFit/>
          </a:bodyPr>
          <a:lstStyle/>
          <a:p>
            <a:r>
              <a:rPr lang="en-US" sz="1400" dirty="0"/>
              <a:t>Delivery</a:t>
            </a:r>
          </a:p>
        </p:txBody>
      </p:sp>
      <p:cxnSp>
        <p:nvCxnSpPr>
          <p:cNvPr id="43" name="Straight Arrow Connector 42">
            <a:extLst>
              <a:ext uri="{FF2B5EF4-FFF2-40B4-BE49-F238E27FC236}">
                <a16:creationId xmlns:a16="http://schemas.microsoft.com/office/drawing/2014/main" id="{A40D225D-2EB6-4529-5808-B0A316E0DE12}"/>
              </a:ext>
            </a:extLst>
          </p:cNvPr>
          <p:cNvCxnSpPr>
            <a:cxnSpLocks/>
          </p:cNvCxnSpPr>
          <p:nvPr/>
        </p:nvCxnSpPr>
        <p:spPr>
          <a:xfrm flipH="1">
            <a:off x="8906256" y="3727704"/>
            <a:ext cx="3566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2E146551-8EB7-F589-EB0E-98160B2A934D}"/>
              </a:ext>
            </a:extLst>
          </p:cNvPr>
          <p:cNvSpPr txBox="1"/>
          <p:nvPr/>
        </p:nvSpPr>
        <p:spPr>
          <a:xfrm>
            <a:off x="7867786" y="3573815"/>
            <a:ext cx="1082925" cy="307777"/>
          </a:xfrm>
          <a:prstGeom prst="rect">
            <a:avLst/>
          </a:prstGeom>
          <a:noFill/>
        </p:spPr>
        <p:txBody>
          <a:bodyPr wrap="none" rtlCol="0">
            <a:spAutoFit/>
          </a:bodyPr>
          <a:lstStyle/>
          <a:p>
            <a:r>
              <a:rPr lang="en-US" sz="1400" dirty="0"/>
              <a:t>Deployment</a:t>
            </a:r>
          </a:p>
        </p:txBody>
      </p:sp>
      <p:cxnSp>
        <p:nvCxnSpPr>
          <p:cNvPr id="45" name="Straight Arrow Connector 44">
            <a:extLst>
              <a:ext uri="{FF2B5EF4-FFF2-40B4-BE49-F238E27FC236}">
                <a16:creationId xmlns:a16="http://schemas.microsoft.com/office/drawing/2014/main" id="{2803C845-6920-BDA0-EE63-0EF5B97E3715}"/>
              </a:ext>
            </a:extLst>
          </p:cNvPr>
          <p:cNvCxnSpPr>
            <a:cxnSpLocks/>
          </p:cNvCxnSpPr>
          <p:nvPr/>
        </p:nvCxnSpPr>
        <p:spPr>
          <a:xfrm flipH="1">
            <a:off x="8906256" y="4693920"/>
            <a:ext cx="3566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ADC9160D-88C7-19AA-B0BA-C0AACCF323BB}"/>
              </a:ext>
            </a:extLst>
          </p:cNvPr>
          <p:cNvSpPr txBox="1"/>
          <p:nvPr/>
        </p:nvSpPr>
        <p:spPr>
          <a:xfrm>
            <a:off x="6868574" y="4540031"/>
            <a:ext cx="2102692" cy="307777"/>
          </a:xfrm>
          <a:prstGeom prst="rect">
            <a:avLst/>
          </a:prstGeom>
          <a:noFill/>
        </p:spPr>
        <p:txBody>
          <a:bodyPr wrap="none" rtlCol="0">
            <a:spAutoFit/>
          </a:bodyPr>
          <a:lstStyle/>
          <a:p>
            <a:r>
              <a:rPr lang="en-US" sz="1400" dirty="0"/>
              <a:t>Maintenance-Monitoring</a:t>
            </a:r>
          </a:p>
        </p:txBody>
      </p:sp>
      <p:cxnSp>
        <p:nvCxnSpPr>
          <p:cNvPr id="49" name="Connector: Elbow 48">
            <a:extLst>
              <a:ext uri="{FF2B5EF4-FFF2-40B4-BE49-F238E27FC236}">
                <a16:creationId xmlns:a16="http://schemas.microsoft.com/office/drawing/2014/main" id="{F01F64BE-D2D9-D7D2-501C-B062D098911C}"/>
              </a:ext>
            </a:extLst>
          </p:cNvPr>
          <p:cNvCxnSpPr>
            <a:cxnSpLocks/>
            <a:stCxn id="32" idx="3"/>
            <a:endCxn id="42" idx="1"/>
          </p:cNvCxnSpPr>
          <p:nvPr/>
        </p:nvCxnSpPr>
        <p:spPr>
          <a:xfrm flipV="1">
            <a:off x="4719001" y="2895671"/>
            <a:ext cx="3458002" cy="350171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870F1E87-B9A5-207D-D7A7-1A6910D5796B}"/>
              </a:ext>
            </a:extLst>
          </p:cNvPr>
          <p:cNvSpPr txBox="1"/>
          <p:nvPr/>
        </p:nvSpPr>
        <p:spPr>
          <a:xfrm>
            <a:off x="5350722" y="5739153"/>
            <a:ext cx="1329509" cy="646331"/>
          </a:xfrm>
          <a:prstGeom prst="rect">
            <a:avLst/>
          </a:prstGeom>
          <a:noFill/>
        </p:spPr>
        <p:txBody>
          <a:bodyPr wrap="square" rtlCol="0">
            <a:spAutoFit/>
          </a:bodyPr>
          <a:lstStyle/>
          <a:p>
            <a:r>
              <a:rPr lang="en-US" sz="1200" b="1" i="1" dirty="0"/>
              <a:t>Containerize entire project using docker</a:t>
            </a:r>
          </a:p>
        </p:txBody>
      </p:sp>
      <p:sp>
        <p:nvSpPr>
          <p:cNvPr id="60" name="TextBox 59">
            <a:extLst>
              <a:ext uri="{FF2B5EF4-FFF2-40B4-BE49-F238E27FC236}">
                <a16:creationId xmlns:a16="http://schemas.microsoft.com/office/drawing/2014/main" id="{41E1E5FF-B495-C8AB-3706-1A72D31C7601}"/>
              </a:ext>
            </a:extLst>
          </p:cNvPr>
          <p:cNvSpPr txBox="1"/>
          <p:nvPr/>
        </p:nvSpPr>
        <p:spPr>
          <a:xfrm>
            <a:off x="6868574" y="4900957"/>
            <a:ext cx="2367820" cy="646331"/>
          </a:xfrm>
          <a:prstGeom prst="rect">
            <a:avLst/>
          </a:prstGeom>
          <a:noFill/>
        </p:spPr>
        <p:txBody>
          <a:bodyPr wrap="square" rtlCol="0">
            <a:spAutoFit/>
          </a:bodyPr>
          <a:lstStyle/>
          <a:p>
            <a:r>
              <a:rPr lang="en-US" sz="1200" b="1" i="1" dirty="0"/>
              <a:t>ML Ops engineer will maintain the entire pipeline from data gathering to deployment</a:t>
            </a:r>
          </a:p>
        </p:txBody>
      </p:sp>
      <p:pic>
        <p:nvPicPr>
          <p:cNvPr id="7170" name="Picture 2" descr="MLOps">
            <a:extLst>
              <a:ext uri="{FF2B5EF4-FFF2-40B4-BE49-F238E27FC236}">
                <a16:creationId xmlns:a16="http://schemas.microsoft.com/office/drawing/2014/main" id="{363C4A36-A772-39CD-7655-A6F03D25FC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9629" y="-13015"/>
            <a:ext cx="1162221" cy="835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305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6C8AB88-55FE-8248-3701-509E3F3EE8F6}"/>
              </a:ext>
            </a:extLst>
          </p:cNvPr>
          <p:cNvSpPr/>
          <p:nvPr/>
        </p:nvSpPr>
        <p:spPr>
          <a:xfrm>
            <a:off x="2964180" y="246888"/>
            <a:ext cx="7487412" cy="1216152"/>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Continuous Integration/Continuous Delivery/Continuous Deployment/ Continuous Training</a:t>
            </a:r>
          </a:p>
          <a:p>
            <a:pPr algn="ctr"/>
            <a:r>
              <a:rPr lang="en-US" dirty="0"/>
              <a:t> </a:t>
            </a:r>
          </a:p>
          <a:p>
            <a:pPr algn="ctr"/>
            <a:r>
              <a:rPr lang="en-US" dirty="0"/>
              <a:t>CI/CD/CD/CT Pipelines</a:t>
            </a:r>
          </a:p>
        </p:txBody>
      </p:sp>
      <p:sp>
        <p:nvSpPr>
          <p:cNvPr id="3" name="TextBox 2">
            <a:extLst>
              <a:ext uri="{FF2B5EF4-FFF2-40B4-BE49-F238E27FC236}">
                <a16:creationId xmlns:a16="http://schemas.microsoft.com/office/drawing/2014/main" id="{DD49D513-8425-3A6B-16D6-BCF5505757B4}"/>
              </a:ext>
            </a:extLst>
          </p:cNvPr>
          <p:cNvSpPr txBox="1"/>
          <p:nvPr/>
        </p:nvSpPr>
        <p:spPr>
          <a:xfrm>
            <a:off x="434163" y="2048256"/>
            <a:ext cx="11187861" cy="3293209"/>
          </a:xfrm>
          <a:prstGeom prst="rect">
            <a:avLst/>
          </a:prstGeom>
          <a:noFill/>
        </p:spPr>
        <p:txBody>
          <a:bodyPr wrap="square" rtlCol="0">
            <a:spAutoFit/>
          </a:bodyPr>
          <a:lstStyle/>
          <a:p>
            <a:pPr marL="285750" indent="-285750">
              <a:buFontTx/>
              <a:buChar char="-"/>
            </a:pPr>
            <a:r>
              <a:rPr lang="en-US" sz="1600" dirty="0"/>
              <a:t>CI(Continuous Integration): Automatically building and testing code changes frequently to detect issues early, using GitHub action we can set up workflows that trigger builds and tests whenever changes are pushed to the repository. This ensures that the codebase remains stable and that any integration issues are caught promptly, leading to higher quality software and more efficient collaboration.</a:t>
            </a:r>
          </a:p>
          <a:p>
            <a:pPr marL="285750" indent="-285750">
              <a:buFontTx/>
              <a:buChar char="-"/>
            </a:pPr>
            <a:endParaRPr lang="en-US" sz="1600" dirty="0"/>
          </a:p>
          <a:p>
            <a:pPr marL="285750" indent="-285750">
              <a:buFontTx/>
              <a:buChar char="-"/>
            </a:pPr>
            <a:r>
              <a:rPr lang="en-US" sz="1600" dirty="0"/>
              <a:t>CD (Continuous Delivery &amp; Deployment) : As soon as testing is done successfully, deliver and deploy the project using docker</a:t>
            </a:r>
          </a:p>
          <a:p>
            <a:pPr marL="285750" indent="-285750">
              <a:buFontTx/>
              <a:buChar char="-"/>
            </a:pPr>
            <a:endParaRPr lang="en-US" sz="1600" dirty="0"/>
          </a:p>
          <a:p>
            <a:pPr marL="285750" indent="-285750">
              <a:buFontTx/>
              <a:buChar char="-"/>
            </a:pPr>
            <a:r>
              <a:rPr lang="en-US" sz="1600" dirty="0"/>
              <a:t>CT (Continuous Training): retraining models whenever new data is available or code changes occur, ensuring that the model remains up-to-date and accurate.</a:t>
            </a:r>
            <a:br>
              <a:rPr lang="en-US" sz="1600" dirty="0"/>
            </a:br>
            <a:endParaRPr lang="en-US" sz="1600" dirty="0"/>
          </a:p>
          <a:p>
            <a:r>
              <a:rPr lang="en-US" sz="1600" dirty="0"/>
              <a:t>	- DVC: Use DVC to track datasets. When new data is pushed to the repository, it can trigger the CI/CD pipeline.</a:t>
            </a:r>
          </a:p>
          <a:p>
            <a:r>
              <a:rPr lang="en-US" sz="1600" dirty="0"/>
              <a:t>	- </a:t>
            </a:r>
            <a:r>
              <a:rPr lang="en-US" sz="1600" dirty="0" err="1"/>
              <a:t>MLFlow</a:t>
            </a:r>
            <a:r>
              <a:rPr lang="en-US" sz="1600" dirty="0"/>
              <a:t>: Log models and their parameters, metrics, and artifacts.</a:t>
            </a:r>
          </a:p>
          <a:p>
            <a:r>
              <a:rPr lang="en-US" sz="1600" dirty="0"/>
              <a:t>	- Airflow: Schedule the retraining process.</a:t>
            </a:r>
          </a:p>
        </p:txBody>
      </p:sp>
    </p:spTree>
    <p:extLst>
      <p:ext uri="{BB962C8B-B14F-4D97-AF65-F5344CB8AC3E}">
        <p14:creationId xmlns:p14="http://schemas.microsoft.com/office/powerpoint/2010/main" val="3960044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0DA0AC5-B2E1-778C-B445-A5D0265DDFAB}"/>
              </a:ext>
            </a:extLst>
          </p:cNvPr>
          <p:cNvSpPr/>
          <p:nvPr/>
        </p:nvSpPr>
        <p:spPr>
          <a:xfrm>
            <a:off x="295656" y="1335024"/>
            <a:ext cx="11600688" cy="52578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pPr marL="342900" indent="-342900">
              <a:buAutoNum type="arabicPeriod"/>
            </a:pPr>
            <a:r>
              <a:rPr lang="en-US" dirty="0"/>
              <a:t>Create a GitHub repo &amp; Clone it in local system: git clone &lt;repo </a:t>
            </a:r>
            <a:r>
              <a:rPr lang="en-US" dirty="0" err="1"/>
              <a:t>url</a:t>
            </a:r>
            <a:r>
              <a:rPr lang="en-US" dirty="0"/>
              <a:t>&gt;</a:t>
            </a:r>
          </a:p>
          <a:p>
            <a:pPr marL="342900" indent="-342900">
              <a:buAutoNum type="arabicPeriod"/>
            </a:pPr>
            <a:r>
              <a:rPr lang="en-US" dirty="0"/>
              <a:t>Create file and folder structure using template.py</a:t>
            </a:r>
          </a:p>
          <a:p>
            <a:pPr marL="342900" indent="-342900">
              <a:buAutoNum type="arabicPeriod"/>
            </a:pPr>
            <a:r>
              <a:rPr lang="en-US" dirty="0"/>
              <a:t>Above can be done by creating a </a:t>
            </a:r>
            <a:r>
              <a:rPr lang="en-US" dirty="0" err="1"/>
              <a:t>github</a:t>
            </a:r>
            <a:r>
              <a:rPr lang="en-US" dirty="0"/>
              <a:t> repo using template repo in </a:t>
            </a:r>
            <a:r>
              <a:rPr lang="en-US" dirty="0" err="1"/>
              <a:t>github</a:t>
            </a:r>
            <a:endParaRPr lang="en-US" dirty="0"/>
          </a:p>
          <a:p>
            <a:r>
              <a:rPr lang="en-US" dirty="0"/>
              <a:t>					</a:t>
            </a:r>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p:txBody>
      </p:sp>
      <p:pic>
        <p:nvPicPr>
          <p:cNvPr id="5" name="Picture 4">
            <a:extLst>
              <a:ext uri="{FF2B5EF4-FFF2-40B4-BE49-F238E27FC236}">
                <a16:creationId xmlns:a16="http://schemas.microsoft.com/office/drawing/2014/main" id="{E7E0292E-235E-A248-2173-2C5C3F5ABAD4}"/>
              </a:ext>
            </a:extLst>
          </p:cNvPr>
          <p:cNvPicPr>
            <a:picLocks noChangeAspect="1"/>
          </p:cNvPicPr>
          <p:nvPr/>
        </p:nvPicPr>
        <p:blipFill>
          <a:blip r:embed="rId2"/>
          <a:stretch>
            <a:fillRect/>
          </a:stretch>
        </p:blipFill>
        <p:spPr>
          <a:xfrm>
            <a:off x="684005" y="2267712"/>
            <a:ext cx="4258597" cy="4261104"/>
          </a:xfrm>
          <a:prstGeom prst="rect">
            <a:avLst/>
          </a:prstGeom>
        </p:spPr>
      </p:pic>
      <p:cxnSp>
        <p:nvCxnSpPr>
          <p:cNvPr id="9" name="Straight Arrow Connector 8">
            <a:extLst>
              <a:ext uri="{FF2B5EF4-FFF2-40B4-BE49-F238E27FC236}">
                <a16:creationId xmlns:a16="http://schemas.microsoft.com/office/drawing/2014/main" id="{EF91BFDF-D2F0-C66D-BA95-6F2A2B6C522C}"/>
              </a:ext>
            </a:extLst>
          </p:cNvPr>
          <p:cNvCxnSpPr/>
          <p:nvPr/>
        </p:nvCxnSpPr>
        <p:spPr>
          <a:xfrm>
            <a:off x="2258568" y="2395728"/>
            <a:ext cx="306324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0" name="Rectangle 9">
            <a:extLst>
              <a:ext uri="{FF2B5EF4-FFF2-40B4-BE49-F238E27FC236}">
                <a16:creationId xmlns:a16="http://schemas.microsoft.com/office/drawing/2014/main" id="{B4EBBF33-3FD3-3BF9-54E1-0933AE221120}"/>
              </a:ext>
            </a:extLst>
          </p:cNvPr>
          <p:cNvSpPr/>
          <p:nvPr/>
        </p:nvSpPr>
        <p:spPr>
          <a:xfrm>
            <a:off x="5405899" y="2290571"/>
            <a:ext cx="1843502" cy="2697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CI/CD Configuration</a:t>
            </a:r>
          </a:p>
        </p:txBody>
      </p:sp>
      <p:cxnSp>
        <p:nvCxnSpPr>
          <p:cNvPr id="11" name="Straight Arrow Connector 10">
            <a:extLst>
              <a:ext uri="{FF2B5EF4-FFF2-40B4-BE49-F238E27FC236}">
                <a16:creationId xmlns:a16="http://schemas.microsoft.com/office/drawing/2014/main" id="{4BB40FD1-6075-F14A-56E5-569F85B8B5A6}"/>
              </a:ext>
            </a:extLst>
          </p:cNvPr>
          <p:cNvCxnSpPr>
            <a:cxnSpLocks/>
          </p:cNvCxnSpPr>
          <p:nvPr/>
        </p:nvCxnSpPr>
        <p:spPr>
          <a:xfrm flipV="1">
            <a:off x="2258568" y="2787369"/>
            <a:ext cx="3063240" cy="10823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 name="Rectangle 11">
            <a:extLst>
              <a:ext uri="{FF2B5EF4-FFF2-40B4-BE49-F238E27FC236}">
                <a16:creationId xmlns:a16="http://schemas.microsoft.com/office/drawing/2014/main" id="{5046D1C1-C3FD-DFEE-DB9C-6A26014BE618}"/>
              </a:ext>
            </a:extLst>
          </p:cNvPr>
          <p:cNvSpPr/>
          <p:nvPr/>
        </p:nvSpPr>
        <p:spPr>
          <a:xfrm>
            <a:off x="5405897" y="2652518"/>
            <a:ext cx="2750551" cy="2697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ML Development/experiments</a:t>
            </a:r>
          </a:p>
        </p:txBody>
      </p:sp>
      <p:cxnSp>
        <p:nvCxnSpPr>
          <p:cNvPr id="13" name="Straight Arrow Connector 12">
            <a:extLst>
              <a:ext uri="{FF2B5EF4-FFF2-40B4-BE49-F238E27FC236}">
                <a16:creationId xmlns:a16="http://schemas.microsoft.com/office/drawing/2014/main" id="{C1FDF61D-73A9-BBC9-2729-A0C7B593C1DE}"/>
              </a:ext>
            </a:extLst>
          </p:cNvPr>
          <p:cNvCxnSpPr>
            <a:cxnSpLocks/>
          </p:cNvCxnSpPr>
          <p:nvPr/>
        </p:nvCxnSpPr>
        <p:spPr>
          <a:xfrm flipV="1">
            <a:off x="1999488" y="3157721"/>
            <a:ext cx="3331463" cy="9144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5" name="Rectangle 14">
            <a:extLst>
              <a:ext uri="{FF2B5EF4-FFF2-40B4-BE49-F238E27FC236}">
                <a16:creationId xmlns:a16="http://schemas.microsoft.com/office/drawing/2014/main" id="{21E98646-8D5B-660C-B7BB-429684A9473A}"/>
              </a:ext>
            </a:extLst>
          </p:cNvPr>
          <p:cNvSpPr/>
          <p:nvPr/>
        </p:nvSpPr>
        <p:spPr>
          <a:xfrm>
            <a:off x="5405897" y="3022872"/>
            <a:ext cx="5420599" cy="2696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data ingestion, transformation, model trainer, model evaluation</a:t>
            </a:r>
          </a:p>
        </p:txBody>
      </p:sp>
      <p:cxnSp>
        <p:nvCxnSpPr>
          <p:cNvPr id="16" name="Straight Arrow Connector 15">
            <a:extLst>
              <a:ext uri="{FF2B5EF4-FFF2-40B4-BE49-F238E27FC236}">
                <a16:creationId xmlns:a16="http://schemas.microsoft.com/office/drawing/2014/main" id="{2BD192A3-4B59-16BA-7018-1CDB03910390}"/>
              </a:ext>
            </a:extLst>
          </p:cNvPr>
          <p:cNvCxnSpPr>
            <a:cxnSpLocks/>
          </p:cNvCxnSpPr>
          <p:nvPr/>
        </p:nvCxnSpPr>
        <p:spPr>
          <a:xfrm>
            <a:off x="1828800" y="3395472"/>
            <a:ext cx="3502151" cy="13259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1" name="Rectangle 20">
            <a:extLst>
              <a:ext uri="{FF2B5EF4-FFF2-40B4-BE49-F238E27FC236}">
                <a16:creationId xmlns:a16="http://schemas.microsoft.com/office/drawing/2014/main" id="{C38E738A-D1F0-9127-E3E4-36B7782FB5A7}"/>
              </a:ext>
            </a:extLst>
          </p:cNvPr>
          <p:cNvSpPr/>
          <p:nvPr/>
        </p:nvSpPr>
        <p:spPr>
          <a:xfrm>
            <a:off x="5405897" y="3393221"/>
            <a:ext cx="1689847" cy="248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Custom exception</a:t>
            </a:r>
          </a:p>
        </p:txBody>
      </p:sp>
      <p:cxnSp>
        <p:nvCxnSpPr>
          <p:cNvPr id="22" name="Straight Arrow Connector 21">
            <a:extLst>
              <a:ext uri="{FF2B5EF4-FFF2-40B4-BE49-F238E27FC236}">
                <a16:creationId xmlns:a16="http://schemas.microsoft.com/office/drawing/2014/main" id="{D8C0FB63-58C4-C39F-8C3A-A149702624DD}"/>
              </a:ext>
            </a:extLst>
          </p:cNvPr>
          <p:cNvCxnSpPr>
            <a:cxnSpLocks/>
          </p:cNvCxnSpPr>
          <p:nvPr/>
        </p:nvCxnSpPr>
        <p:spPr>
          <a:xfrm>
            <a:off x="1676670" y="3555489"/>
            <a:ext cx="3691754" cy="24841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9" name="Rectangle 28">
            <a:extLst>
              <a:ext uri="{FF2B5EF4-FFF2-40B4-BE49-F238E27FC236}">
                <a16:creationId xmlns:a16="http://schemas.microsoft.com/office/drawing/2014/main" id="{1F1817BC-FAF1-8B44-5124-E6525E40022D}"/>
              </a:ext>
            </a:extLst>
          </p:cNvPr>
          <p:cNvSpPr/>
          <p:nvPr/>
        </p:nvSpPr>
        <p:spPr>
          <a:xfrm>
            <a:off x="5405897" y="3680428"/>
            <a:ext cx="882309" cy="248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logging</a:t>
            </a:r>
          </a:p>
        </p:txBody>
      </p:sp>
      <p:cxnSp>
        <p:nvCxnSpPr>
          <p:cNvPr id="30" name="Straight Arrow Connector 29">
            <a:extLst>
              <a:ext uri="{FF2B5EF4-FFF2-40B4-BE49-F238E27FC236}">
                <a16:creationId xmlns:a16="http://schemas.microsoft.com/office/drawing/2014/main" id="{FFF0F1ED-FABE-0099-B4A7-8691266A9EA5}"/>
              </a:ext>
            </a:extLst>
          </p:cNvPr>
          <p:cNvCxnSpPr>
            <a:cxnSpLocks/>
          </p:cNvCxnSpPr>
          <p:nvPr/>
        </p:nvCxnSpPr>
        <p:spPr>
          <a:xfrm>
            <a:off x="1733998" y="3744670"/>
            <a:ext cx="3634426" cy="35871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2" name="Rectangle 31">
            <a:extLst>
              <a:ext uri="{FF2B5EF4-FFF2-40B4-BE49-F238E27FC236}">
                <a16:creationId xmlns:a16="http://schemas.microsoft.com/office/drawing/2014/main" id="{4D0FDF2F-3666-0C0B-64BF-C45D89C763B3}"/>
              </a:ext>
            </a:extLst>
          </p:cNvPr>
          <p:cNvSpPr/>
          <p:nvPr/>
        </p:nvSpPr>
        <p:spPr>
          <a:xfrm>
            <a:off x="5405896" y="4042315"/>
            <a:ext cx="2329928" cy="248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Training &amp; prediction pipeline</a:t>
            </a:r>
          </a:p>
        </p:txBody>
      </p:sp>
      <p:cxnSp>
        <p:nvCxnSpPr>
          <p:cNvPr id="33" name="Straight Arrow Connector 32">
            <a:extLst>
              <a:ext uri="{FF2B5EF4-FFF2-40B4-BE49-F238E27FC236}">
                <a16:creationId xmlns:a16="http://schemas.microsoft.com/office/drawing/2014/main" id="{D13B0BB5-2A87-F254-3031-E8981163A32A}"/>
              </a:ext>
            </a:extLst>
          </p:cNvPr>
          <p:cNvCxnSpPr>
            <a:cxnSpLocks/>
          </p:cNvCxnSpPr>
          <p:nvPr/>
        </p:nvCxnSpPr>
        <p:spPr>
          <a:xfrm>
            <a:off x="1521087" y="3924028"/>
            <a:ext cx="3847337" cy="50823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5" name="Rectangle 34">
            <a:extLst>
              <a:ext uri="{FF2B5EF4-FFF2-40B4-BE49-F238E27FC236}">
                <a16:creationId xmlns:a16="http://schemas.microsoft.com/office/drawing/2014/main" id="{EEDA2328-18CB-3F8F-DFAB-2DA064B1AED7}"/>
              </a:ext>
            </a:extLst>
          </p:cNvPr>
          <p:cNvSpPr/>
          <p:nvPr/>
        </p:nvSpPr>
        <p:spPr>
          <a:xfrm>
            <a:off x="5401952" y="4359085"/>
            <a:ext cx="2329928" cy="248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Common utility functions</a:t>
            </a:r>
          </a:p>
        </p:txBody>
      </p:sp>
      <p:cxnSp>
        <p:nvCxnSpPr>
          <p:cNvPr id="36" name="Straight Arrow Connector 35">
            <a:extLst>
              <a:ext uri="{FF2B5EF4-FFF2-40B4-BE49-F238E27FC236}">
                <a16:creationId xmlns:a16="http://schemas.microsoft.com/office/drawing/2014/main" id="{CF9EBF16-9910-C364-27C5-F45D9EE303B7}"/>
              </a:ext>
            </a:extLst>
          </p:cNvPr>
          <p:cNvCxnSpPr>
            <a:cxnSpLocks/>
          </p:cNvCxnSpPr>
          <p:nvPr/>
        </p:nvCxnSpPr>
        <p:spPr>
          <a:xfrm>
            <a:off x="1483614" y="4229170"/>
            <a:ext cx="3884810" cy="58667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8" name="Rectangle 37">
            <a:extLst>
              <a:ext uri="{FF2B5EF4-FFF2-40B4-BE49-F238E27FC236}">
                <a16:creationId xmlns:a16="http://schemas.microsoft.com/office/drawing/2014/main" id="{178EB214-E734-2BFC-2536-18DBD318181B}"/>
              </a:ext>
            </a:extLst>
          </p:cNvPr>
          <p:cNvSpPr/>
          <p:nvPr/>
        </p:nvSpPr>
        <p:spPr>
          <a:xfrm>
            <a:off x="5400518" y="4713271"/>
            <a:ext cx="2329928" cy="248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Unit/Integration testing</a:t>
            </a:r>
          </a:p>
        </p:txBody>
      </p:sp>
      <p:cxnSp>
        <p:nvCxnSpPr>
          <p:cNvPr id="39" name="Straight Arrow Connector 38">
            <a:extLst>
              <a:ext uri="{FF2B5EF4-FFF2-40B4-BE49-F238E27FC236}">
                <a16:creationId xmlns:a16="http://schemas.microsoft.com/office/drawing/2014/main" id="{75024EF5-4347-9584-7623-204E9F06E445}"/>
              </a:ext>
            </a:extLst>
          </p:cNvPr>
          <p:cNvCxnSpPr>
            <a:cxnSpLocks/>
          </p:cNvCxnSpPr>
          <p:nvPr/>
        </p:nvCxnSpPr>
        <p:spPr>
          <a:xfrm>
            <a:off x="1733998" y="4408529"/>
            <a:ext cx="3596953" cy="71103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41" name="Rectangle 40">
            <a:extLst>
              <a:ext uri="{FF2B5EF4-FFF2-40B4-BE49-F238E27FC236}">
                <a16:creationId xmlns:a16="http://schemas.microsoft.com/office/drawing/2014/main" id="{3A665DB7-008B-DDDA-A8FD-512617813189}"/>
              </a:ext>
            </a:extLst>
          </p:cNvPr>
          <p:cNvSpPr/>
          <p:nvPr/>
        </p:nvSpPr>
        <p:spPr>
          <a:xfrm>
            <a:off x="5400518" y="5026853"/>
            <a:ext cx="3652042" cy="248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Ignore files/folders to be pushed in </a:t>
            </a:r>
            <a:r>
              <a:rPr lang="en-US" sz="1400" dirty="0" err="1"/>
              <a:t>github</a:t>
            </a:r>
            <a:r>
              <a:rPr lang="en-US" sz="1400" dirty="0"/>
              <a:t> repo</a:t>
            </a:r>
          </a:p>
        </p:txBody>
      </p:sp>
      <p:pic>
        <p:nvPicPr>
          <p:cNvPr id="3" name="Picture 2" descr="Git and Github basics served right. | by Sameer Kashyap | Medium">
            <a:extLst>
              <a:ext uri="{FF2B5EF4-FFF2-40B4-BE49-F238E27FC236}">
                <a16:creationId xmlns:a16="http://schemas.microsoft.com/office/drawing/2014/main" id="{81ECD92A-1673-8E73-2D49-A89A1A8931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8253" y="10218"/>
            <a:ext cx="1375494" cy="591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3391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4E09BE5-18AD-4BE9-2EBE-ECAD9B794C91}"/>
              </a:ext>
            </a:extLst>
          </p:cNvPr>
          <p:cNvSpPr/>
          <p:nvPr/>
        </p:nvSpPr>
        <p:spPr>
          <a:xfrm>
            <a:off x="3553968" y="109728"/>
            <a:ext cx="5084064" cy="49377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Micro Project: Deploy Python Package (CI Concepts)</a:t>
            </a:r>
          </a:p>
        </p:txBody>
      </p:sp>
      <p:sp>
        <p:nvSpPr>
          <p:cNvPr id="4" name="TextBox 3">
            <a:extLst>
              <a:ext uri="{FF2B5EF4-FFF2-40B4-BE49-F238E27FC236}">
                <a16:creationId xmlns:a16="http://schemas.microsoft.com/office/drawing/2014/main" id="{A670C0AA-8C3C-838D-F7E2-9E0B57F6F1F1}"/>
              </a:ext>
            </a:extLst>
          </p:cNvPr>
          <p:cNvSpPr txBox="1"/>
          <p:nvPr/>
        </p:nvSpPr>
        <p:spPr>
          <a:xfrm>
            <a:off x="429768" y="1380744"/>
            <a:ext cx="11223778" cy="5355312"/>
          </a:xfrm>
          <a:prstGeom prst="rect">
            <a:avLst/>
          </a:prstGeom>
          <a:noFill/>
        </p:spPr>
        <p:txBody>
          <a:bodyPr wrap="none" rtlCol="0">
            <a:spAutoFit/>
          </a:bodyPr>
          <a:lstStyle/>
          <a:p>
            <a:pPr marL="285750" indent="-285750">
              <a:buFontTx/>
              <a:buChar char="-"/>
            </a:pPr>
            <a:r>
              <a:rPr lang="en-US" dirty="0"/>
              <a:t>We will create a unified python package to perform CRUD operations which will be hosted on </a:t>
            </a:r>
            <a:r>
              <a:rPr lang="en-US" dirty="0" err="1"/>
              <a:t>github</a:t>
            </a:r>
            <a:r>
              <a:rPr lang="en-US" dirty="0"/>
              <a:t> &amp; released on</a:t>
            </a:r>
          </a:p>
          <a:p>
            <a:r>
              <a:rPr lang="en-US" dirty="0"/>
              <a:t>      </a:t>
            </a:r>
            <a:r>
              <a:rPr lang="en-US" dirty="0" err="1"/>
              <a:t>pypi</a:t>
            </a:r>
            <a:r>
              <a:rPr lang="en-US" dirty="0"/>
              <a:t> repo so that people can pip install and use it in their code</a:t>
            </a:r>
          </a:p>
          <a:p>
            <a:endParaRPr lang="en-US" dirty="0"/>
          </a:p>
          <a:p>
            <a:pPr marL="285750" indent="-285750">
              <a:buFontTx/>
              <a:buChar char="-"/>
            </a:pPr>
            <a:r>
              <a:rPr lang="en-US" dirty="0" err="1"/>
              <a:t>Mongodb</a:t>
            </a:r>
            <a:r>
              <a:rPr lang="en-US" dirty="0"/>
              <a:t> is a </a:t>
            </a:r>
            <a:r>
              <a:rPr lang="en-US" dirty="0" err="1"/>
              <a:t>nosql</a:t>
            </a:r>
            <a:r>
              <a:rPr lang="en-US" dirty="0"/>
              <a:t> </a:t>
            </a:r>
            <a:r>
              <a:rPr lang="en-US" dirty="0" err="1"/>
              <a:t>dbs</a:t>
            </a:r>
            <a:r>
              <a:rPr lang="en-US" dirty="0"/>
              <a:t> where we save data in dictionary format, we will also include </a:t>
            </a:r>
            <a:r>
              <a:rPr lang="en-US" dirty="0" err="1"/>
              <a:t>cassandra</a:t>
            </a:r>
            <a:r>
              <a:rPr lang="en-US" dirty="0"/>
              <a:t>, </a:t>
            </a:r>
            <a:r>
              <a:rPr lang="en-US" dirty="0" err="1"/>
              <a:t>mysql</a:t>
            </a:r>
            <a:r>
              <a:rPr lang="en-US" dirty="0"/>
              <a:t> </a:t>
            </a:r>
            <a:r>
              <a:rPr lang="en-US" dirty="0" err="1"/>
              <a:t>etc</a:t>
            </a:r>
            <a:endParaRPr lang="en-US" dirty="0"/>
          </a:p>
          <a:p>
            <a:pPr marL="285750" indent="-285750">
              <a:buFontTx/>
              <a:buChar char="-"/>
            </a:pPr>
            <a:endParaRPr lang="en-US" dirty="0"/>
          </a:p>
          <a:p>
            <a:pPr marL="285750" indent="-285750">
              <a:buFontTx/>
              <a:buChar char="-"/>
            </a:pPr>
            <a:r>
              <a:rPr lang="en-US" dirty="0"/>
              <a:t>This package will be able to perform crud operations &amp; connecter for all major </a:t>
            </a:r>
            <a:r>
              <a:rPr lang="en-US" dirty="0" err="1"/>
              <a:t>dbs</a:t>
            </a:r>
            <a:endParaRPr lang="en-US" dirty="0"/>
          </a:p>
          <a:p>
            <a:pPr marL="285750" indent="-285750">
              <a:buFontTx/>
              <a:buChar char="-"/>
            </a:pPr>
            <a:endParaRPr lang="en-US" dirty="0"/>
          </a:p>
          <a:p>
            <a:pPr marL="285750" indent="-285750">
              <a:buFontTx/>
              <a:buChar char="-"/>
            </a:pPr>
            <a:r>
              <a:rPr lang="en-US" dirty="0"/>
              <a:t>Create folder structure using template.py</a:t>
            </a:r>
          </a:p>
          <a:p>
            <a:pPr marL="285750" indent="-285750">
              <a:buFontTx/>
              <a:buChar char="-"/>
            </a:pPr>
            <a:endParaRPr lang="en-US" dirty="0"/>
          </a:p>
          <a:p>
            <a:pPr marL="285750" indent="-285750">
              <a:buFontTx/>
              <a:buChar char="-"/>
            </a:pPr>
            <a:r>
              <a:rPr lang="en-US" dirty="0"/>
              <a:t>Create </a:t>
            </a:r>
            <a:r>
              <a:rPr lang="en-US" dirty="0" err="1"/>
              <a:t>ci.yaml</a:t>
            </a:r>
            <a:r>
              <a:rPr lang="en-US" dirty="0"/>
              <a:t> &amp; python-</a:t>
            </a:r>
            <a:r>
              <a:rPr lang="en-US" dirty="0" err="1"/>
              <a:t>publish.yaml</a:t>
            </a:r>
            <a:endParaRPr lang="en-US" dirty="0"/>
          </a:p>
          <a:p>
            <a:pPr marL="285750" indent="-285750">
              <a:buFontTx/>
              <a:buChar char="-"/>
            </a:pPr>
            <a:endParaRPr lang="en-US" dirty="0"/>
          </a:p>
          <a:p>
            <a:pPr marL="285750" indent="-285750">
              <a:buFontTx/>
              <a:buChar char="-"/>
            </a:pPr>
            <a:r>
              <a:rPr lang="en-US" dirty="0"/>
              <a:t>Generate </a:t>
            </a:r>
            <a:r>
              <a:rPr lang="en-US" dirty="0" err="1"/>
              <a:t>pypi</a:t>
            </a:r>
            <a:r>
              <a:rPr lang="en-US" dirty="0"/>
              <a:t> </a:t>
            </a:r>
            <a:r>
              <a:rPr lang="en-US" dirty="0" err="1"/>
              <a:t>api</a:t>
            </a:r>
            <a:r>
              <a:rPr lang="en-US" dirty="0"/>
              <a:t> token &amp; add in </a:t>
            </a:r>
            <a:r>
              <a:rPr lang="en-US" dirty="0" err="1"/>
              <a:t>github</a:t>
            </a:r>
            <a:r>
              <a:rPr lang="en-US" dirty="0"/>
              <a:t> under setting &gt; security &gt; actions &gt; new repository secret and save</a:t>
            </a:r>
          </a:p>
          <a:p>
            <a:r>
              <a:rPr lang="en-US" dirty="0"/>
              <a:t>      it inside </a:t>
            </a:r>
            <a:r>
              <a:rPr lang="en-US" dirty="0" err="1"/>
              <a:t>github</a:t>
            </a:r>
            <a:r>
              <a:rPr lang="en-US" dirty="0"/>
              <a:t> secret variables</a:t>
            </a:r>
          </a:p>
          <a:p>
            <a:endParaRPr lang="en-US" dirty="0"/>
          </a:p>
          <a:p>
            <a:r>
              <a:rPr lang="en-US" b="1" dirty="0"/>
              <a:t>“Continuous Integration (CI) is a software development practice where developers frequently integrate their</a:t>
            </a:r>
          </a:p>
          <a:p>
            <a:r>
              <a:rPr lang="en-US" b="1" dirty="0"/>
              <a:t>code into a shared repository multiple times a day. Each integration (or "commit") is automatically tested to detect</a:t>
            </a:r>
          </a:p>
          <a:p>
            <a:r>
              <a:rPr lang="en-US" b="1" dirty="0"/>
              <a:t>issues early, enabling teams to identify and address bugs as soon as they arise. The goal of CI is to improve software</a:t>
            </a:r>
          </a:p>
          <a:p>
            <a:r>
              <a:rPr lang="en-US" b="1" dirty="0"/>
              <a:t>quality and reduce the time it takes to deliver updates”</a:t>
            </a:r>
          </a:p>
          <a:p>
            <a:endParaRPr lang="en-US" dirty="0"/>
          </a:p>
        </p:txBody>
      </p:sp>
    </p:spTree>
    <p:extLst>
      <p:ext uri="{BB962C8B-B14F-4D97-AF65-F5344CB8AC3E}">
        <p14:creationId xmlns:p14="http://schemas.microsoft.com/office/powerpoint/2010/main" val="1625477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6C6BAB-A0DC-9A3F-0BBD-AFC7A693BB01}"/>
              </a:ext>
            </a:extLst>
          </p:cNvPr>
          <p:cNvSpPr txBox="1"/>
          <p:nvPr/>
        </p:nvSpPr>
        <p:spPr>
          <a:xfrm>
            <a:off x="576072" y="1353312"/>
            <a:ext cx="7565982" cy="3416320"/>
          </a:xfrm>
          <a:prstGeom prst="rect">
            <a:avLst/>
          </a:prstGeom>
          <a:noFill/>
        </p:spPr>
        <p:txBody>
          <a:bodyPr wrap="none" rtlCol="0">
            <a:spAutoFit/>
          </a:bodyPr>
          <a:lstStyle/>
          <a:p>
            <a:pPr marL="285750" indent="-285750">
              <a:buFontTx/>
              <a:buChar char="-"/>
            </a:pPr>
            <a:r>
              <a:rPr lang="en-US" dirty="0"/>
              <a:t>GIT is a Source Code Management Tool. What is SCM and Version Control?</a:t>
            </a:r>
          </a:p>
          <a:p>
            <a:pPr marL="285750" indent="-285750">
              <a:buFontTx/>
              <a:buChar char="-"/>
            </a:pPr>
            <a:r>
              <a:rPr lang="en-US" dirty="0"/>
              <a:t>Source code is the code that we write for any program</a:t>
            </a:r>
          </a:p>
          <a:p>
            <a:pPr marL="285750" indent="-285750">
              <a:buFontTx/>
              <a:buChar char="-"/>
            </a:pPr>
            <a:r>
              <a:rPr lang="en-US" dirty="0"/>
              <a:t>Lets say we write some code on day1 &amp; write more code</a:t>
            </a:r>
          </a:p>
          <a:p>
            <a:r>
              <a:rPr lang="en-US" dirty="0"/>
              <a:t>On day 2, so day 1 file is v1 &amp; day 2 file is v2, even though </a:t>
            </a:r>
          </a:p>
          <a:p>
            <a:r>
              <a:rPr lang="en-US" dirty="0"/>
              <a:t>It’s the same file, but it has 2 versions</a:t>
            </a:r>
          </a:p>
          <a:p>
            <a:pPr marL="285750" indent="-285750">
              <a:buFontTx/>
              <a:buChar char="-"/>
            </a:pPr>
            <a:r>
              <a:rPr lang="en-US" dirty="0"/>
              <a:t>By using “git” we can manage different versions of the code, It’s a SCM tool.</a:t>
            </a:r>
          </a:p>
          <a:p>
            <a:pPr marL="285750" indent="-285750">
              <a:buFontTx/>
              <a:buChar char="-"/>
            </a:pPr>
            <a:r>
              <a:rPr lang="en-US" dirty="0"/>
              <a:t>Git is a Open Source tool</a:t>
            </a:r>
          </a:p>
          <a:p>
            <a:pPr marL="285750" indent="-285750">
              <a:buFontTx/>
              <a:buChar char="-"/>
            </a:pPr>
            <a:r>
              <a:rPr lang="en-US" dirty="0"/>
              <a:t>“git </a:t>
            </a:r>
            <a:r>
              <a:rPr lang="en-US" dirty="0" err="1"/>
              <a:t>init</a:t>
            </a:r>
            <a:r>
              <a:rPr lang="en-US" dirty="0"/>
              <a:t>” in local folder to local repo, git add &lt;</a:t>
            </a:r>
            <a:r>
              <a:rPr lang="en-US" dirty="0" err="1"/>
              <a:t>file_name</a:t>
            </a:r>
            <a:r>
              <a:rPr lang="en-US" dirty="0"/>
              <a:t>&gt; to add the file in</a:t>
            </a:r>
          </a:p>
          <a:p>
            <a:r>
              <a:rPr lang="en-US" dirty="0"/>
              <a:t>Staging area &amp; finally we can commit to take a snapshot of the code</a:t>
            </a:r>
          </a:p>
          <a:p>
            <a:r>
              <a:rPr lang="en-US" dirty="0"/>
              <a:t>git </a:t>
            </a:r>
            <a:r>
              <a:rPr lang="en-US" dirty="0" err="1"/>
              <a:t>cimmit</a:t>
            </a:r>
            <a:r>
              <a:rPr lang="en-US" dirty="0"/>
              <a:t> –m “&lt;comment&gt;”</a:t>
            </a:r>
          </a:p>
          <a:p>
            <a:endParaRPr lang="en-US" dirty="0"/>
          </a:p>
          <a:p>
            <a:r>
              <a:rPr lang="en-US" dirty="0"/>
              <a:t>- </a:t>
            </a:r>
            <a:r>
              <a:rPr lang="en-US" b="1" dirty="0"/>
              <a:t>&lt;skipped&gt;</a:t>
            </a:r>
          </a:p>
        </p:txBody>
      </p:sp>
      <p:pic>
        <p:nvPicPr>
          <p:cNvPr id="5" name="Picture 4">
            <a:extLst>
              <a:ext uri="{FF2B5EF4-FFF2-40B4-BE49-F238E27FC236}">
                <a16:creationId xmlns:a16="http://schemas.microsoft.com/office/drawing/2014/main" id="{956EBAF2-3070-D4FC-CBAE-BCD02754AC11}"/>
              </a:ext>
            </a:extLst>
          </p:cNvPr>
          <p:cNvPicPr>
            <a:picLocks noChangeAspect="1"/>
          </p:cNvPicPr>
          <p:nvPr/>
        </p:nvPicPr>
        <p:blipFill>
          <a:blip r:embed="rId2"/>
          <a:stretch>
            <a:fillRect/>
          </a:stretch>
        </p:blipFill>
        <p:spPr>
          <a:xfrm>
            <a:off x="8142054" y="68258"/>
            <a:ext cx="4008316" cy="3196150"/>
          </a:xfrm>
          <a:prstGeom prst="rect">
            <a:avLst/>
          </a:prstGeom>
        </p:spPr>
      </p:pic>
      <p:pic>
        <p:nvPicPr>
          <p:cNvPr id="7" name="Picture 6">
            <a:extLst>
              <a:ext uri="{FF2B5EF4-FFF2-40B4-BE49-F238E27FC236}">
                <a16:creationId xmlns:a16="http://schemas.microsoft.com/office/drawing/2014/main" id="{7CD1F3C7-5650-73AB-731F-79AB0B49B4EA}"/>
              </a:ext>
            </a:extLst>
          </p:cNvPr>
          <p:cNvPicPr>
            <a:picLocks noChangeAspect="1"/>
          </p:cNvPicPr>
          <p:nvPr/>
        </p:nvPicPr>
        <p:blipFill>
          <a:blip r:embed="rId3"/>
          <a:stretch>
            <a:fillRect/>
          </a:stretch>
        </p:blipFill>
        <p:spPr>
          <a:xfrm>
            <a:off x="8142055" y="3364992"/>
            <a:ext cx="4008316" cy="3322623"/>
          </a:xfrm>
          <a:prstGeom prst="rect">
            <a:avLst/>
          </a:prstGeom>
        </p:spPr>
      </p:pic>
      <p:pic>
        <p:nvPicPr>
          <p:cNvPr id="2050" name="Picture 2" descr="Git and Github basics served right. | by Sameer Kashyap | Medium">
            <a:extLst>
              <a:ext uri="{FF2B5EF4-FFF2-40B4-BE49-F238E27FC236}">
                <a16:creationId xmlns:a16="http://schemas.microsoft.com/office/drawing/2014/main" id="{3A025A47-27DA-30A1-C245-8094B7AF25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9063" y="0"/>
            <a:ext cx="1375494" cy="591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5447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58FC4DD-64E6-31A2-0173-4A37668BA387}"/>
              </a:ext>
            </a:extLst>
          </p:cNvPr>
          <p:cNvSpPr txBox="1"/>
          <p:nvPr/>
        </p:nvSpPr>
        <p:spPr>
          <a:xfrm>
            <a:off x="234615" y="219456"/>
            <a:ext cx="10722359" cy="5755422"/>
          </a:xfrm>
          <a:prstGeom prst="rect">
            <a:avLst/>
          </a:prstGeom>
          <a:noFill/>
        </p:spPr>
        <p:txBody>
          <a:bodyPr wrap="none" rtlCol="0">
            <a:spAutoFit/>
          </a:bodyPr>
          <a:lstStyle/>
          <a:p>
            <a:pPr marL="285750" indent="-285750">
              <a:buFontTx/>
              <a:buChar char="-"/>
            </a:pPr>
            <a:r>
              <a:rPr lang="en-US" sz="1600" dirty="0"/>
              <a:t>What is docker?</a:t>
            </a:r>
          </a:p>
          <a:p>
            <a:pPr marL="285750" indent="-285750">
              <a:buFontTx/>
              <a:buChar char="-"/>
            </a:pPr>
            <a:r>
              <a:rPr lang="en-US" sz="1600" dirty="0"/>
              <a:t>Docker was developed in 2013 developed by Solomon Hikes. It’s open-source tool.</a:t>
            </a:r>
          </a:p>
          <a:p>
            <a:pPr marL="285750" indent="-285750">
              <a:buFontTx/>
              <a:buChar char="-"/>
            </a:pPr>
            <a:r>
              <a:rPr lang="en-US" sz="1600" dirty="0"/>
              <a:t>Actual virtualization is done by “docker engine”</a:t>
            </a:r>
          </a:p>
          <a:p>
            <a:pPr marL="285750" indent="-285750">
              <a:buFontTx/>
              <a:buChar char="-"/>
            </a:pPr>
            <a:r>
              <a:rPr lang="en-US" sz="1600" dirty="0"/>
              <a:t>Written using “Go” language of google.</a:t>
            </a:r>
          </a:p>
          <a:p>
            <a:pPr marL="285750" indent="-285750">
              <a:buFontTx/>
              <a:buChar char="-"/>
            </a:pPr>
            <a:r>
              <a:rPr lang="en-US" sz="1600" dirty="0"/>
              <a:t>There are 3 services: IAAS, PAAS, SAAS. Docker is a PAAS since its providing a platform to run application</a:t>
            </a:r>
          </a:p>
          <a:p>
            <a:pPr marL="285750" indent="-285750">
              <a:buFontTx/>
              <a:buChar char="-"/>
            </a:pPr>
            <a:r>
              <a:rPr lang="en-US" sz="1600" dirty="0"/>
              <a:t>We can build, run &amp; deploy application using docker</a:t>
            </a:r>
          </a:p>
          <a:p>
            <a:pPr marL="285750" indent="-285750">
              <a:buFontTx/>
              <a:buChar char="-"/>
            </a:pPr>
            <a:endParaRPr lang="en-US" sz="1600" dirty="0"/>
          </a:p>
          <a:p>
            <a:pPr marL="285750" indent="-285750">
              <a:buFontTx/>
              <a:buChar char="-"/>
            </a:pPr>
            <a:r>
              <a:rPr lang="en-US" sz="1600" dirty="0"/>
              <a:t>What was the problem before?</a:t>
            </a:r>
          </a:p>
          <a:p>
            <a:pPr marL="285750" indent="-285750">
              <a:buFontTx/>
              <a:buChar char="-"/>
            </a:pPr>
            <a:r>
              <a:rPr lang="en-US" sz="1600" dirty="0"/>
              <a:t>Lets say we have a development, testing and deployment team. When development team creates a program and send it to </a:t>
            </a:r>
          </a:p>
          <a:p>
            <a:r>
              <a:rPr lang="en-US" sz="1600" dirty="0"/>
              <a:t>Testing team to test, Its doesn’t work on their system due to development environment or dependencies not available.</a:t>
            </a:r>
          </a:p>
          <a:p>
            <a:pPr marL="285750" indent="-285750">
              <a:buFontTx/>
              <a:buChar char="-"/>
            </a:pPr>
            <a:r>
              <a:rPr lang="en-US" sz="1600" dirty="0"/>
              <a:t>Or when we write code in our local system, It works flawlessly but when we deploy it on </a:t>
            </a:r>
            <a:r>
              <a:rPr lang="en-US" sz="1600" dirty="0" err="1"/>
              <a:t>aws</a:t>
            </a:r>
            <a:r>
              <a:rPr lang="en-US" sz="1600" dirty="0"/>
              <a:t> or cloud then it fails, it gives</a:t>
            </a:r>
          </a:p>
          <a:p>
            <a:r>
              <a:rPr lang="en-US" sz="1600" dirty="0"/>
              <a:t>“internal server error”</a:t>
            </a:r>
          </a:p>
          <a:p>
            <a:pPr marL="285750" indent="-285750">
              <a:buFontTx/>
              <a:buChar char="-"/>
            </a:pPr>
            <a:r>
              <a:rPr lang="en-US" sz="1600" dirty="0"/>
              <a:t>Solution was “Virtualization” and actual program which is responsible for virtualization called</a:t>
            </a:r>
          </a:p>
          <a:p>
            <a:r>
              <a:rPr lang="en-US" sz="1600" dirty="0"/>
              <a:t>“hypervisor”</a:t>
            </a:r>
          </a:p>
          <a:p>
            <a:pPr marL="285750" indent="-285750">
              <a:buFontTx/>
              <a:buChar char="-"/>
            </a:pPr>
            <a:r>
              <a:rPr lang="en-US" sz="1600" dirty="0"/>
              <a:t>We can create multiple VMs by sharing resources using hypervisor and we can create a template</a:t>
            </a:r>
          </a:p>
          <a:p>
            <a:r>
              <a:rPr lang="en-US" sz="1600" dirty="0"/>
              <a:t>Of it and share that template to Testing team and it will work on their system also but the issue</a:t>
            </a:r>
          </a:p>
          <a:p>
            <a:r>
              <a:rPr lang="en-US" sz="1600" dirty="0"/>
              <a:t>with this is that we cant create unlimited VMs since its sharing the resources of the host pc since </a:t>
            </a:r>
          </a:p>
          <a:p>
            <a:r>
              <a:rPr lang="en-US" sz="1600" dirty="0"/>
              <a:t>Resources are fixed and will not be free until VM are shut down.</a:t>
            </a:r>
          </a:p>
          <a:p>
            <a:pPr marL="285750" indent="-285750">
              <a:buFontTx/>
              <a:buChar char="-"/>
            </a:pPr>
            <a:r>
              <a:rPr lang="en-US" sz="1600" dirty="0"/>
              <a:t>We are installing separate OS in virtualization which takes more memory. Solution to this is</a:t>
            </a:r>
          </a:p>
          <a:p>
            <a:r>
              <a:rPr lang="en-US" sz="1600" dirty="0"/>
              <a:t>“Containerization”, we can use Docker Engine for containerization. In containerization we share </a:t>
            </a:r>
          </a:p>
          <a:p>
            <a:r>
              <a:rPr lang="en-US" sz="1600" dirty="0"/>
              <a:t>Host OS &amp; resources and they are not fixed. Its not directly interacting with hardware.</a:t>
            </a:r>
          </a:p>
          <a:p>
            <a:pPr marL="285750" indent="-285750">
              <a:buFontTx/>
              <a:buChar char="-"/>
            </a:pPr>
            <a:r>
              <a:rPr lang="en-US" sz="1600" dirty="0"/>
              <a:t>Port Mapping: Lets say we’re running flask on docker which uses 5000 port but we cant access it on host </a:t>
            </a:r>
            <a:r>
              <a:rPr lang="en-US" sz="1600" dirty="0" err="1"/>
              <a:t>os</a:t>
            </a:r>
            <a:endParaRPr lang="en-US" sz="1600" dirty="0"/>
          </a:p>
          <a:p>
            <a:r>
              <a:rPr lang="en-US" sz="1600" dirty="0"/>
              <a:t>unless its mapped, 5000(host port): 5000(container app port)</a:t>
            </a:r>
          </a:p>
        </p:txBody>
      </p:sp>
      <p:pic>
        <p:nvPicPr>
          <p:cNvPr id="8" name="Picture 7">
            <a:extLst>
              <a:ext uri="{FF2B5EF4-FFF2-40B4-BE49-F238E27FC236}">
                <a16:creationId xmlns:a16="http://schemas.microsoft.com/office/drawing/2014/main" id="{545888E4-0E68-F522-2766-07FB990A2885}"/>
              </a:ext>
            </a:extLst>
          </p:cNvPr>
          <p:cNvPicPr>
            <a:picLocks noChangeAspect="1"/>
          </p:cNvPicPr>
          <p:nvPr/>
        </p:nvPicPr>
        <p:blipFill>
          <a:blip r:embed="rId2"/>
          <a:stretch>
            <a:fillRect/>
          </a:stretch>
        </p:blipFill>
        <p:spPr>
          <a:xfrm>
            <a:off x="9627945" y="3339840"/>
            <a:ext cx="2448312" cy="2448312"/>
          </a:xfrm>
          <a:prstGeom prst="rect">
            <a:avLst/>
          </a:prstGeom>
        </p:spPr>
      </p:pic>
      <p:pic>
        <p:nvPicPr>
          <p:cNvPr id="9" name="Picture 4" descr="Docker for Developers: Understanding the Core Concepts – Code with Dan Blog">
            <a:extLst>
              <a:ext uri="{FF2B5EF4-FFF2-40B4-BE49-F238E27FC236}">
                <a16:creationId xmlns:a16="http://schemas.microsoft.com/office/drawing/2014/main" id="{D96A6FB8-47E6-EF09-B392-C4BD24A7FA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6253" y="-73319"/>
            <a:ext cx="889747" cy="58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8163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E0E8D03-CF9D-DE5B-CDCF-8AE33D679EE1}"/>
              </a:ext>
            </a:extLst>
          </p:cNvPr>
          <p:cNvSpPr txBox="1"/>
          <p:nvPr/>
        </p:nvSpPr>
        <p:spPr>
          <a:xfrm>
            <a:off x="365760" y="379476"/>
            <a:ext cx="9597499" cy="5847755"/>
          </a:xfrm>
          <a:prstGeom prst="rect">
            <a:avLst/>
          </a:prstGeom>
          <a:noFill/>
        </p:spPr>
        <p:txBody>
          <a:bodyPr wrap="none" rtlCol="0">
            <a:spAutoFit/>
          </a:bodyPr>
          <a:lstStyle/>
          <a:p>
            <a:pPr marL="285750" indent="-285750">
              <a:buFontTx/>
              <a:buChar char="-"/>
            </a:pPr>
            <a:r>
              <a:rPr lang="en-US" sz="1100" b="1" dirty="0"/>
              <a:t>TASK: Create flask app and run it on docker container inside docker image</a:t>
            </a:r>
            <a:br>
              <a:rPr lang="en-US" sz="1100" b="1" dirty="0"/>
            </a:br>
            <a:endParaRPr lang="en-US" sz="1100" b="1" dirty="0"/>
          </a:p>
          <a:p>
            <a:pPr marL="285750" indent="-285750">
              <a:buFontTx/>
              <a:buChar char="-"/>
            </a:pPr>
            <a:r>
              <a:rPr lang="en-US" sz="1100" b="1" dirty="0"/>
              <a:t>Inside docker hub there are images of almost all technologies like </a:t>
            </a:r>
            <a:r>
              <a:rPr lang="en-US" sz="1100" b="1" dirty="0" err="1"/>
              <a:t>os</a:t>
            </a:r>
            <a:r>
              <a:rPr lang="en-US" sz="1100" b="1" dirty="0"/>
              <a:t>, web servers like nginx, </a:t>
            </a:r>
            <a:r>
              <a:rPr lang="en-US" sz="1100" b="1" dirty="0" err="1"/>
              <a:t>dbs</a:t>
            </a:r>
            <a:r>
              <a:rPr lang="en-US" sz="1100" b="1" dirty="0"/>
              <a:t> like </a:t>
            </a:r>
            <a:r>
              <a:rPr lang="en-US" sz="1100" b="1" dirty="0" err="1"/>
              <a:t>sql</a:t>
            </a:r>
            <a:r>
              <a:rPr lang="en-US" sz="1100" b="1" dirty="0"/>
              <a:t> </a:t>
            </a:r>
            <a:r>
              <a:rPr lang="en-US" sz="1100" b="1" dirty="0" err="1"/>
              <a:t>etc</a:t>
            </a:r>
            <a:endParaRPr lang="en-US" sz="1100" b="1" dirty="0"/>
          </a:p>
          <a:p>
            <a:pPr marL="285750" indent="-285750">
              <a:buFontTx/>
              <a:buChar char="-"/>
            </a:pPr>
            <a:r>
              <a:rPr lang="en-US" sz="1100" b="1" dirty="0"/>
              <a:t>There are 3 ways to  create a image:</a:t>
            </a:r>
          </a:p>
          <a:p>
            <a:pPr marL="800100" lvl="1" indent="-342900">
              <a:buAutoNum type="arabicPeriod"/>
            </a:pPr>
            <a:r>
              <a:rPr lang="en-US" sz="1100" b="1" dirty="0"/>
              <a:t>We can write a docker file and create image</a:t>
            </a:r>
          </a:p>
          <a:p>
            <a:pPr marL="800100" lvl="1" indent="-342900">
              <a:buAutoNum type="arabicPeriod"/>
            </a:pPr>
            <a:r>
              <a:rPr lang="en-US" sz="1100" b="1" dirty="0"/>
              <a:t>We can create image directly from container</a:t>
            </a:r>
          </a:p>
          <a:p>
            <a:pPr marL="285750" indent="-285750">
              <a:buFontTx/>
              <a:buChar char="-"/>
            </a:pPr>
            <a:r>
              <a:rPr lang="en-US" sz="1100" b="1" dirty="0"/>
              <a:t>Run “docker images” to check all images</a:t>
            </a:r>
          </a:p>
          <a:p>
            <a:pPr marL="285750" indent="-285750">
              <a:buFontTx/>
              <a:buChar char="-"/>
            </a:pPr>
            <a:r>
              <a:rPr lang="en-US" sz="1100" b="1" dirty="0"/>
              <a:t>Run “docker </a:t>
            </a:r>
            <a:r>
              <a:rPr lang="en-US" sz="1100" b="1" dirty="0" err="1"/>
              <a:t>ps</a:t>
            </a:r>
            <a:r>
              <a:rPr lang="en-US" sz="1100" b="1" dirty="0"/>
              <a:t>” to check all running containers</a:t>
            </a:r>
          </a:p>
          <a:p>
            <a:pPr marL="285750" indent="-285750">
              <a:buFontTx/>
              <a:buChar char="-"/>
            </a:pPr>
            <a:endParaRPr lang="en-US" sz="1100" b="1" dirty="0"/>
          </a:p>
          <a:p>
            <a:pPr marL="285750" indent="-285750">
              <a:buFontTx/>
              <a:buChar char="-"/>
            </a:pPr>
            <a:r>
              <a:rPr lang="en-US" sz="1100" b="1" dirty="0"/>
              <a:t>Create app.py file for flask and run it on local system</a:t>
            </a:r>
          </a:p>
          <a:p>
            <a:pPr marL="285750" indent="-285750">
              <a:buFontTx/>
              <a:buChar char="-"/>
            </a:pPr>
            <a:r>
              <a:rPr lang="en-US" sz="1100" b="1" dirty="0"/>
              <a:t>Now we can containerize this app, there 3 ways to create a image</a:t>
            </a:r>
          </a:p>
          <a:p>
            <a:pPr marL="742950" lvl="1" indent="-285750">
              <a:buFontTx/>
              <a:buChar char="-"/>
            </a:pPr>
            <a:r>
              <a:rPr lang="en-US" sz="1100" b="1" dirty="0"/>
              <a:t>Write a docker file for this app and create a docker image</a:t>
            </a:r>
          </a:p>
          <a:p>
            <a:pPr marL="742950" lvl="1" indent="-285750">
              <a:buFontTx/>
              <a:buChar char="-"/>
            </a:pPr>
            <a:r>
              <a:rPr lang="en-US" sz="1100" b="1" dirty="0"/>
              <a:t>Run this docker image inside container</a:t>
            </a:r>
          </a:p>
          <a:p>
            <a:pPr marL="742950" lvl="1" indent="-285750">
              <a:buFontTx/>
              <a:buChar char="-"/>
            </a:pPr>
            <a:r>
              <a:rPr lang="en-US" sz="1100" b="1" dirty="0"/>
              <a:t>By default, Flask runs on 5000 port</a:t>
            </a:r>
          </a:p>
          <a:p>
            <a:pPr marL="742950" lvl="1" indent="-285750">
              <a:buFontTx/>
              <a:buChar char="-"/>
            </a:pPr>
            <a:r>
              <a:rPr lang="en-US" sz="1100" b="1" dirty="0"/>
              <a:t>To access the flask app on local system which is running inside the container we need to perform port mapping</a:t>
            </a:r>
          </a:p>
          <a:p>
            <a:pPr lvl="1"/>
            <a:r>
              <a:rPr lang="en-US" sz="1100" b="1" dirty="0"/>
              <a:t>“host port : container port”</a:t>
            </a:r>
          </a:p>
          <a:p>
            <a:pPr lvl="1"/>
            <a:endParaRPr lang="en-US" sz="1100" b="1" dirty="0"/>
          </a:p>
          <a:p>
            <a:pPr marL="285750" indent="-285750">
              <a:buFontTx/>
              <a:buChar char="-"/>
            </a:pPr>
            <a:r>
              <a:rPr lang="en-US" sz="1100" b="1" dirty="0"/>
              <a:t>In summary, we need to create a docker file to create a docker image of flask app &amp; run that image inside docker</a:t>
            </a:r>
          </a:p>
          <a:p>
            <a:r>
              <a:rPr lang="en-US" sz="1100" b="1" dirty="0"/>
              <a:t>Container, to access the flask app in local system, we need to perform port mapping</a:t>
            </a:r>
          </a:p>
          <a:p>
            <a:endParaRPr lang="en-US" sz="1100" b="1" dirty="0"/>
          </a:p>
          <a:p>
            <a:pPr marL="285750" indent="-285750">
              <a:buFontTx/>
              <a:buChar char="-"/>
            </a:pPr>
            <a:r>
              <a:rPr lang="en-US" sz="1100" b="1" dirty="0"/>
              <a:t>In order to create image we have 2 ways:</a:t>
            </a:r>
          </a:p>
          <a:p>
            <a:r>
              <a:rPr lang="en-US" sz="1100" b="1" dirty="0"/>
              <a:t>	1. Create a docker file which contains instructions</a:t>
            </a:r>
          </a:p>
          <a:p>
            <a:r>
              <a:rPr lang="en-US" sz="1100" b="1" dirty="0"/>
              <a:t>	2. Create an image directly using docker commands</a:t>
            </a:r>
          </a:p>
          <a:p>
            <a:endParaRPr lang="en-US" sz="1100" b="1" dirty="0"/>
          </a:p>
          <a:p>
            <a:pPr marL="171450" indent="-171450">
              <a:buFontTx/>
              <a:buChar char="-"/>
            </a:pPr>
            <a:r>
              <a:rPr lang="en-US" sz="1100" b="1" dirty="0"/>
              <a:t>Write docker file : FROM, COPY, WORKDIR, RUN, CMD</a:t>
            </a:r>
          </a:p>
          <a:p>
            <a:pPr marL="171450" indent="-171450">
              <a:buFontTx/>
              <a:buChar char="-"/>
            </a:pPr>
            <a:r>
              <a:rPr lang="en-US" sz="1100" b="1" dirty="0"/>
              <a:t>Create docker image using this docker file: “docker build  -t &lt;image name&gt; &lt;.&gt;”</a:t>
            </a:r>
          </a:p>
          <a:p>
            <a:pPr marL="171450" indent="-171450">
              <a:buFontTx/>
              <a:buChar char="-"/>
            </a:pPr>
            <a:r>
              <a:rPr lang="en-US" sz="1100" b="1" dirty="0"/>
              <a:t>Image name = image name we want to keep &amp; “.” means file is available in the same folder</a:t>
            </a:r>
          </a:p>
          <a:p>
            <a:pPr marL="171450" indent="-171450">
              <a:buFontTx/>
              <a:buChar char="-"/>
            </a:pPr>
            <a:r>
              <a:rPr lang="en-US" sz="1100" b="1" dirty="0"/>
              <a:t>Once image is created, check it : “docker images” (This is the 1</a:t>
            </a:r>
            <a:r>
              <a:rPr lang="en-US" sz="1100" b="1" baseline="30000" dirty="0"/>
              <a:t>st</a:t>
            </a:r>
            <a:r>
              <a:rPr lang="en-US" sz="1100" b="1" dirty="0"/>
              <a:t> way to create an image, 2</a:t>
            </a:r>
            <a:r>
              <a:rPr lang="en-US" sz="1100" b="1" baseline="30000" dirty="0"/>
              <a:t>nd</a:t>
            </a:r>
            <a:r>
              <a:rPr lang="en-US" sz="1100" b="1" dirty="0"/>
              <a:t> way is we can convert container to image &amp; share it to next team)</a:t>
            </a:r>
          </a:p>
          <a:p>
            <a:pPr marL="171450" indent="-171450">
              <a:buFontTx/>
              <a:buChar char="-"/>
            </a:pPr>
            <a:r>
              <a:rPr lang="en-US" sz="1100" b="1" dirty="0"/>
              <a:t>Now we can run this image in container: docker run -d -p &lt;</a:t>
            </a:r>
            <a:r>
              <a:rPr lang="en-US" sz="1100" b="1" dirty="0" err="1"/>
              <a:t>host_port</a:t>
            </a:r>
            <a:r>
              <a:rPr lang="en-US" sz="1100" b="1" dirty="0"/>
              <a:t>&gt;:&lt;</a:t>
            </a:r>
            <a:r>
              <a:rPr lang="en-US" sz="1100" b="1" dirty="0" err="1"/>
              <a:t>container_port</a:t>
            </a:r>
            <a:r>
              <a:rPr lang="en-US" sz="1100" b="1" dirty="0"/>
              <a:t>&gt; &lt;</a:t>
            </a:r>
            <a:r>
              <a:rPr lang="en-US" sz="1100" b="1" dirty="0" err="1"/>
              <a:t>image_name</a:t>
            </a:r>
            <a:r>
              <a:rPr lang="en-US" sz="1100" b="1" dirty="0"/>
              <a:t>&gt;</a:t>
            </a:r>
          </a:p>
          <a:p>
            <a:pPr marL="171450" indent="-171450">
              <a:buFontTx/>
              <a:buChar char="-"/>
            </a:pPr>
            <a:r>
              <a:rPr lang="en-US" sz="1100" b="1" dirty="0"/>
              <a:t>docker run –d –p 5000:5000 </a:t>
            </a:r>
            <a:r>
              <a:rPr lang="en-US" sz="1100" b="1" dirty="0" err="1"/>
              <a:t>myhelloapp</a:t>
            </a:r>
            <a:endParaRPr lang="en-US" sz="1100" b="1" dirty="0"/>
          </a:p>
          <a:p>
            <a:pPr marL="171450" indent="-171450">
              <a:buFontTx/>
              <a:buChar char="-"/>
            </a:pPr>
            <a:r>
              <a:rPr lang="en-US" sz="1100" b="1" dirty="0"/>
              <a:t>Now check in local browser: </a:t>
            </a:r>
            <a:r>
              <a:rPr lang="en-US" sz="1100" b="1" dirty="0">
                <a:hlinkClick r:id="rId2"/>
              </a:rPr>
              <a:t>http://localhost:5000/</a:t>
            </a:r>
            <a:r>
              <a:rPr lang="en-US" sz="1100" b="1" dirty="0"/>
              <a:t> this app is running from container</a:t>
            </a:r>
          </a:p>
          <a:p>
            <a:pPr marL="171450" indent="-171450">
              <a:buFontTx/>
              <a:buChar char="-"/>
            </a:pPr>
            <a:r>
              <a:rPr lang="en-US" sz="1100" b="1" dirty="0"/>
              <a:t>To stop this container and free resources: docker stop &lt;</a:t>
            </a:r>
            <a:r>
              <a:rPr lang="en-US" sz="1100" b="1" dirty="0" err="1"/>
              <a:t>containerid</a:t>
            </a:r>
            <a:r>
              <a:rPr lang="en-US" sz="1100" b="1" dirty="0"/>
              <a:t>&gt;</a:t>
            </a:r>
          </a:p>
          <a:p>
            <a:pPr marL="171450" indent="-171450">
              <a:buFontTx/>
              <a:buChar char="-"/>
            </a:pPr>
            <a:r>
              <a:rPr lang="en-US" sz="1100" b="1" dirty="0"/>
              <a:t>Container is an isolated process</a:t>
            </a:r>
          </a:p>
        </p:txBody>
      </p:sp>
      <p:pic>
        <p:nvPicPr>
          <p:cNvPr id="6" name="Picture 5">
            <a:extLst>
              <a:ext uri="{FF2B5EF4-FFF2-40B4-BE49-F238E27FC236}">
                <a16:creationId xmlns:a16="http://schemas.microsoft.com/office/drawing/2014/main" id="{8F64A991-5A3E-7970-CC55-D8FF54904789}"/>
              </a:ext>
            </a:extLst>
          </p:cNvPr>
          <p:cNvPicPr>
            <a:picLocks noChangeAspect="1"/>
          </p:cNvPicPr>
          <p:nvPr/>
        </p:nvPicPr>
        <p:blipFill>
          <a:blip r:embed="rId3"/>
          <a:stretch>
            <a:fillRect/>
          </a:stretch>
        </p:blipFill>
        <p:spPr>
          <a:xfrm>
            <a:off x="7348727" y="130111"/>
            <a:ext cx="4752976" cy="2347913"/>
          </a:xfrm>
          <a:prstGeom prst="rect">
            <a:avLst/>
          </a:prstGeom>
        </p:spPr>
      </p:pic>
      <p:cxnSp>
        <p:nvCxnSpPr>
          <p:cNvPr id="8" name="Straight Arrow Connector 7">
            <a:extLst>
              <a:ext uri="{FF2B5EF4-FFF2-40B4-BE49-F238E27FC236}">
                <a16:creationId xmlns:a16="http://schemas.microsoft.com/office/drawing/2014/main" id="{7239C7E7-365D-70C0-189F-62F08077D83D}"/>
              </a:ext>
            </a:extLst>
          </p:cNvPr>
          <p:cNvCxnSpPr/>
          <p:nvPr/>
        </p:nvCxnSpPr>
        <p:spPr>
          <a:xfrm flipV="1">
            <a:off x="5184648" y="1773936"/>
            <a:ext cx="2084832" cy="2889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8BF727A4-7DBB-AAC7-8C54-4A13D4F35BF0}"/>
              </a:ext>
            </a:extLst>
          </p:cNvPr>
          <p:cNvPicPr>
            <a:picLocks noChangeAspect="1"/>
          </p:cNvPicPr>
          <p:nvPr/>
        </p:nvPicPr>
        <p:blipFill>
          <a:blip r:embed="rId4"/>
          <a:stretch>
            <a:fillRect/>
          </a:stretch>
        </p:blipFill>
        <p:spPr>
          <a:xfrm>
            <a:off x="7310613" y="3509773"/>
            <a:ext cx="4777755" cy="870204"/>
          </a:xfrm>
          <a:prstGeom prst="rect">
            <a:avLst/>
          </a:prstGeom>
        </p:spPr>
      </p:pic>
      <p:cxnSp>
        <p:nvCxnSpPr>
          <p:cNvPr id="12" name="Straight Arrow Connector 11">
            <a:extLst>
              <a:ext uri="{FF2B5EF4-FFF2-40B4-BE49-F238E27FC236}">
                <a16:creationId xmlns:a16="http://schemas.microsoft.com/office/drawing/2014/main" id="{E10D6CAE-4963-3805-FE75-65ABDC7BB991}"/>
              </a:ext>
            </a:extLst>
          </p:cNvPr>
          <p:cNvCxnSpPr/>
          <p:nvPr/>
        </p:nvCxnSpPr>
        <p:spPr>
          <a:xfrm flipV="1">
            <a:off x="3502152" y="4187952"/>
            <a:ext cx="3767328" cy="8686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B9CCE167-FDDC-AF8E-C676-F476EE30297B}"/>
              </a:ext>
            </a:extLst>
          </p:cNvPr>
          <p:cNvPicPr>
            <a:picLocks noChangeAspect="1"/>
          </p:cNvPicPr>
          <p:nvPr/>
        </p:nvPicPr>
        <p:blipFill>
          <a:blip r:embed="rId5"/>
          <a:stretch>
            <a:fillRect/>
          </a:stretch>
        </p:blipFill>
        <p:spPr>
          <a:xfrm>
            <a:off x="6967728" y="5173599"/>
            <a:ext cx="5079508" cy="1304925"/>
          </a:xfrm>
          <a:prstGeom prst="rect">
            <a:avLst/>
          </a:prstGeom>
        </p:spPr>
      </p:pic>
      <p:cxnSp>
        <p:nvCxnSpPr>
          <p:cNvPr id="16" name="Connector: Elbow 15">
            <a:extLst>
              <a:ext uri="{FF2B5EF4-FFF2-40B4-BE49-F238E27FC236}">
                <a16:creationId xmlns:a16="http://schemas.microsoft.com/office/drawing/2014/main" id="{1308D23C-FCD5-74F6-DFF6-30405E9856F6}"/>
              </a:ext>
            </a:extLst>
          </p:cNvPr>
          <p:cNvCxnSpPr>
            <a:cxnSpLocks/>
            <a:endCxn id="14" idx="1"/>
          </p:cNvCxnSpPr>
          <p:nvPr/>
        </p:nvCxnSpPr>
        <p:spPr>
          <a:xfrm rot="16200000" flipH="1">
            <a:off x="6509861" y="5368195"/>
            <a:ext cx="623126" cy="29260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 name="Picture 4" descr="Docker for Developers: Understanding the Core Concepts – Code with Dan Blog">
            <a:extLst>
              <a:ext uri="{FF2B5EF4-FFF2-40B4-BE49-F238E27FC236}">
                <a16:creationId xmlns:a16="http://schemas.microsoft.com/office/drawing/2014/main" id="{5C5FD608-C934-BAEE-9BC3-3C6D140C88C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9635" y="-42553"/>
            <a:ext cx="889747" cy="58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6518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3ADDA4-2D04-9658-132E-D101E1AEA431}"/>
              </a:ext>
            </a:extLst>
          </p:cNvPr>
          <p:cNvSpPr txBox="1"/>
          <p:nvPr/>
        </p:nvSpPr>
        <p:spPr>
          <a:xfrm>
            <a:off x="420624" y="749808"/>
            <a:ext cx="6723059" cy="3539430"/>
          </a:xfrm>
          <a:prstGeom prst="rect">
            <a:avLst/>
          </a:prstGeom>
          <a:noFill/>
        </p:spPr>
        <p:txBody>
          <a:bodyPr wrap="none" rtlCol="0">
            <a:spAutoFit/>
          </a:bodyPr>
          <a:lstStyle/>
          <a:p>
            <a:pPr marL="285750" indent="-285750">
              <a:buFontTx/>
              <a:buChar char="-"/>
            </a:pPr>
            <a:r>
              <a:rPr lang="en-US" sz="1400" dirty="0"/>
              <a:t>How to push the image we created previously to docker hub?</a:t>
            </a:r>
          </a:p>
          <a:p>
            <a:pPr marL="285750" indent="-285750">
              <a:buFontTx/>
              <a:buChar char="-"/>
            </a:pPr>
            <a:r>
              <a:rPr lang="en-US" sz="1400" dirty="0"/>
              <a:t>Docker is same as </a:t>
            </a:r>
            <a:r>
              <a:rPr lang="en-US" sz="1400" dirty="0" err="1"/>
              <a:t>github</a:t>
            </a:r>
            <a:r>
              <a:rPr lang="en-US" sz="1400" dirty="0"/>
              <a:t> where we push our repo</a:t>
            </a:r>
          </a:p>
          <a:p>
            <a:pPr marL="285750" indent="-285750">
              <a:buFontTx/>
              <a:buChar char="-"/>
            </a:pPr>
            <a:r>
              <a:rPr lang="en-US" sz="1400" dirty="0"/>
              <a:t>Login to docker inside terminal: “docker login”</a:t>
            </a:r>
          </a:p>
          <a:p>
            <a:pPr marL="285750" indent="-285750">
              <a:buFontTx/>
              <a:buChar char="-"/>
            </a:pPr>
            <a:r>
              <a:rPr lang="en-US" sz="1400" dirty="0"/>
              <a:t>Push the image: “docker tag </a:t>
            </a:r>
            <a:r>
              <a:rPr lang="en-US" sz="1400" dirty="0" err="1"/>
              <a:t>myhelloapp</a:t>
            </a:r>
            <a:r>
              <a:rPr lang="en-US" sz="1400" dirty="0"/>
              <a:t> iamprashantjain2601/</a:t>
            </a:r>
            <a:r>
              <a:rPr lang="en-US" sz="1400" dirty="0" err="1"/>
              <a:t>projecthelloappdemo</a:t>
            </a:r>
            <a:r>
              <a:rPr lang="en-US" sz="1400" dirty="0"/>
              <a:t>”</a:t>
            </a:r>
          </a:p>
          <a:p>
            <a:pPr marL="285750" indent="-285750">
              <a:buFontTx/>
              <a:buChar char="-"/>
            </a:pPr>
            <a:endParaRPr lang="en-US" sz="1400" dirty="0"/>
          </a:p>
          <a:p>
            <a:pPr marL="285750" indent="-285750">
              <a:buFontTx/>
              <a:buChar char="-"/>
            </a:pPr>
            <a:endParaRPr lang="en-US" sz="1400" dirty="0"/>
          </a:p>
          <a:p>
            <a:pPr marL="285750" indent="-285750">
              <a:buFontTx/>
              <a:buChar char="-"/>
            </a:pPr>
            <a:endParaRPr lang="en-US" sz="1400" dirty="0"/>
          </a:p>
          <a:p>
            <a:pPr marL="285750" indent="-285750">
              <a:buFontTx/>
              <a:buChar char="-"/>
            </a:pPr>
            <a:endParaRPr lang="en-US" sz="1400" dirty="0"/>
          </a:p>
          <a:p>
            <a:pPr marL="285750" indent="-285750">
              <a:buFontTx/>
              <a:buChar char="-"/>
            </a:pPr>
            <a:endParaRPr lang="en-US" sz="1400" dirty="0"/>
          </a:p>
          <a:p>
            <a:pPr marL="285750" indent="-285750">
              <a:buFontTx/>
              <a:buChar char="-"/>
            </a:pPr>
            <a:endParaRPr lang="en-US" sz="1400" dirty="0"/>
          </a:p>
          <a:p>
            <a:pPr marL="285750" indent="-285750">
              <a:buFontTx/>
              <a:buChar char="-"/>
            </a:pPr>
            <a:endParaRPr lang="en-US" sz="1400" dirty="0"/>
          </a:p>
          <a:p>
            <a:pPr marL="285750" indent="-285750">
              <a:buFontTx/>
              <a:buChar char="-"/>
            </a:pPr>
            <a:endParaRPr lang="en-US" sz="1400" dirty="0"/>
          </a:p>
          <a:p>
            <a:pPr marL="285750" indent="-285750">
              <a:buFontTx/>
              <a:buChar char="-"/>
            </a:pPr>
            <a:endParaRPr lang="en-US" sz="1400" dirty="0"/>
          </a:p>
          <a:p>
            <a:pPr marL="285750" indent="-285750">
              <a:buFontTx/>
              <a:buChar char="-"/>
            </a:pPr>
            <a:endParaRPr lang="en-US" sz="1400" dirty="0"/>
          </a:p>
          <a:p>
            <a:pPr marL="285750" indent="-285750">
              <a:buFontTx/>
              <a:buChar char="-"/>
            </a:pPr>
            <a:r>
              <a:rPr lang="en-US" sz="1400" dirty="0"/>
              <a:t>To push: “docker push &lt;username&gt;/&lt;</a:t>
            </a:r>
            <a:r>
              <a:rPr lang="en-US" sz="1400" dirty="0" err="1"/>
              <a:t>repo_name</a:t>
            </a:r>
            <a:r>
              <a:rPr lang="en-US" sz="1400" dirty="0"/>
              <a:t>&gt;”</a:t>
            </a:r>
          </a:p>
          <a:p>
            <a:pPr marL="285750" indent="-285750">
              <a:buFontTx/>
              <a:buChar char="-"/>
            </a:pPr>
            <a:endParaRPr lang="en-US" sz="1400" dirty="0"/>
          </a:p>
        </p:txBody>
      </p:sp>
      <p:pic>
        <p:nvPicPr>
          <p:cNvPr id="5" name="Picture 4">
            <a:extLst>
              <a:ext uri="{FF2B5EF4-FFF2-40B4-BE49-F238E27FC236}">
                <a16:creationId xmlns:a16="http://schemas.microsoft.com/office/drawing/2014/main" id="{8873BB9F-4E30-8867-EE7B-9D4165173763}"/>
              </a:ext>
            </a:extLst>
          </p:cNvPr>
          <p:cNvPicPr>
            <a:picLocks noChangeAspect="1"/>
          </p:cNvPicPr>
          <p:nvPr/>
        </p:nvPicPr>
        <p:blipFill>
          <a:blip r:embed="rId2"/>
          <a:stretch>
            <a:fillRect/>
          </a:stretch>
        </p:blipFill>
        <p:spPr>
          <a:xfrm>
            <a:off x="816102" y="1685734"/>
            <a:ext cx="7048500" cy="1895475"/>
          </a:xfrm>
          <a:prstGeom prst="rect">
            <a:avLst/>
          </a:prstGeom>
        </p:spPr>
      </p:pic>
      <p:pic>
        <p:nvPicPr>
          <p:cNvPr id="7" name="Picture 6">
            <a:extLst>
              <a:ext uri="{FF2B5EF4-FFF2-40B4-BE49-F238E27FC236}">
                <a16:creationId xmlns:a16="http://schemas.microsoft.com/office/drawing/2014/main" id="{A5EED22F-EC51-B6F8-72AE-E1D1C9B303AC}"/>
              </a:ext>
            </a:extLst>
          </p:cNvPr>
          <p:cNvPicPr>
            <a:picLocks noChangeAspect="1"/>
          </p:cNvPicPr>
          <p:nvPr/>
        </p:nvPicPr>
        <p:blipFill>
          <a:blip r:embed="rId3"/>
          <a:stretch>
            <a:fillRect/>
          </a:stretch>
        </p:blipFill>
        <p:spPr>
          <a:xfrm>
            <a:off x="816102" y="4043743"/>
            <a:ext cx="9077325" cy="2754821"/>
          </a:xfrm>
          <a:prstGeom prst="rect">
            <a:avLst/>
          </a:prstGeom>
        </p:spPr>
      </p:pic>
      <p:pic>
        <p:nvPicPr>
          <p:cNvPr id="8" name="Picture 4" descr="Docker for Developers: Understanding the Core Concepts – Code with Dan Blog">
            <a:extLst>
              <a:ext uri="{FF2B5EF4-FFF2-40B4-BE49-F238E27FC236}">
                <a16:creationId xmlns:a16="http://schemas.microsoft.com/office/drawing/2014/main" id="{751EA208-EC8C-EE5E-F39E-D315B22084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9890" y="-10930"/>
            <a:ext cx="889747" cy="58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2613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F8D8FE7-FE56-A402-6344-F244C2C0EBB2}"/>
              </a:ext>
            </a:extLst>
          </p:cNvPr>
          <p:cNvSpPr txBox="1"/>
          <p:nvPr/>
        </p:nvSpPr>
        <p:spPr>
          <a:xfrm>
            <a:off x="740664" y="832104"/>
            <a:ext cx="8107028" cy="5078313"/>
          </a:xfrm>
          <a:prstGeom prst="rect">
            <a:avLst/>
          </a:prstGeom>
          <a:noFill/>
        </p:spPr>
        <p:txBody>
          <a:bodyPr wrap="none" rtlCol="0">
            <a:spAutoFit/>
          </a:bodyPr>
          <a:lstStyle/>
          <a:p>
            <a:pPr marL="285750" indent="-285750">
              <a:buFontTx/>
              <a:buChar char="-"/>
            </a:pPr>
            <a:r>
              <a:rPr lang="en-US" sz="1200" dirty="0"/>
              <a:t>After it pushed to docker hub, anyone can use it by pulling it same as we push &amp; pull in </a:t>
            </a:r>
            <a:r>
              <a:rPr lang="en-US" sz="1200" dirty="0" err="1"/>
              <a:t>github</a:t>
            </a:r>
            <a:endParaRPr lang="en-US" sz="1200" dirty="0"/>
          </a:p>
          <a:p>
            <a:pPr marL="285750" indent="-285750">
              <a:buFontTx/>
              <a:buChar char="-"/>
            </a:pPr>
            <a:r>
              <a:rPr lang="en-US" sz="1200" dirty="0"/>
              <a:t>“docker pull iamprashantjain2601/</a:t>
            </a:r>
            <a:r>
              <a:rPr lang="en-US" sz="1200" dirty="0" err="1"/>
              <a:t>projecthelloappdemo</a:t>
            </a:r>
            <a:r>
              <a:rPr lang="en-US" sz="1200" dirty="0"/>
              <a:t>”</a:t>
            </a:r>
          </a:p>
          <a:p>
            <a:pPr marL="285750" indent="-285750">
              <a:buFontTx/>
              <a:buChar char="-"/>
            </a:pPr>
            <a:r>
              <a:rPr lang="en-US" sz="1200" dirty="0"/>
              <a:t>We have various ways to create docker images</a:t>
            </a:r>
          </a:p>
          <a:p>
            <a:r>
              <a:rPr lang="en-US" sz="1200" dirty="0"/>
              <a:t>	1. docker file</a:t>
            </a:r>
          </a:p>
          <a:p>
            <a:r>
              <a:rPr lang="en-US" sz="1200" dirty="0"/>
              <a:t>	2. pull image from docker hub &amp; run inside container</a:t>
            </a:r>
          </a:p>
          <a:p>
            <a:r>
              <a:rPr lang="en-US" sz="1200" dirty="0"/>
              <a:t>	3. create image from docker container</a:t>
            </a:r>
          </a:p>
          <a:p>
            <a:endParaRPr lang="en-US" sz="1200" dirty="0"/>
          </a:p>
          <a:p>
            <a:r>
              <a:rPr lang="en-US" sz="1200" dirty="0"/>
              <a:t>-      </a:t>
            </a:r>
            <a:r>
              <a:rPr lang="en-US" sz="1200" b="1" dirty="0">
                <a:solidFill>
                  <a:srgbClr val="FF0000"/>
                </a:solidFill>
              </a:rPr>
              <a:t>How to pull the image and run inside container?</a:t>
            </a:r>
          </a:p>
          <a:p>
            <a:r>
              <a:rPr lang="en-US" sz="1200" dirty="0"/>
              <a:t>-      There is a component inside docker “docker engine”</a:t>
            </a:r>
          </a:p>
          <a:p>
            <a:pPr marL="285750" indent="-285750">
              <a:buFontTx/>
              <a:buChar char="-"/>
            </a:pPr>
            <a:r>
              <a:rPr lang="en-US" sz="1200" dirty="0"/>
              <a:t>If we run the image 1</a:t>
            </a:r>
            <a:r>
              <a:rPr lang="en-US" sz="1200" baseline="30000" dirty="0"/>
              <a:t>st</a:t>
            </a:r>
            <a:r>
              <a:rPr lang="en-US" sz="1200" dirty="0"/>
              <a:t> time, it will find that image in local system, if its not found then it will fetch from </a:t>
            </a:r>
            <a:r>
              <a:rPr lang="en-US" sz="1200" dirty="0" err="1"/>
              <a:t>dockerhub</a:t>
            </a:r>
            <a:endParaRPr lang="en-US" sz="1200" dirty="0"/>
          </a:p>
          <a:p>
            <a:pPr marL="285750" indent="-285750">
              <a:buFontTx/>
              <a:buChar char="-"/>
            </a:pPr>
            <a:r>
              <a:rPr lang="en-US" sz="1200" dirty="0"/>
              <a:t>Pull: “docker pull </a:t>
            </a:r>
            <a:r>
              <a:rPr lang="en-US" sz="1200" dirty="0" err="1"/>
              <a:t>redis</a:t>
            </a:r>
            <a:r>
              <a:rPr lang="en-US" sz="1200" dirty="0"/>
              <a:t>”</a:t>
            </a:r>
          </a:p>
          <a:p>
            <a:pPr marL="285750" indent="-285750">
              <a:buFontTx/>
              <a:buChar char="-"/>
            </a:pPr>
            <a:r>
              <a:rPr lang="en-US" sz="1200" dirty="0"/>
              <a:t>Run: ”docker run –</a:t>
            </a:r>
            <a:r>
              <a:rPr lang="en-US" sz="1200" dirty="0" err="1"/>
              <a:t>i</a:t>
            </a:r>
            <a:r>
              <a:rPr lang="en-US" sz="1200" dirty="0"/>
              <a:t> –t ubuntu /bin/bash”</a:t>
            </a:r>
          </a:p>
          <a:p>
            <a:pPr marL="285750" indent="-285750">
              <a:buFontTx/>
              <a:buChar char="-"/>
            </a:pPr>
            <a:endParaRPr lang="en-US" sz="1200" dirty="0"/>
          </a:p>
          <a:p>
            <a:pPr marL="285750" indent="-285750">
              <a:buFontTx/>
              <a:buChar char="-"/>
            </a:pPr>
            <a:endParaRPr lang="en-US" sz="1200" dirty="0"/>
          </a:p>
          <a:p>
            <a:pPr marL="285750" indent="-285750">
              <a:buFontTx/>
              <a:buChar char="-"/>
            </a:pPr>
            <a:endParaRPr lang="en-US" sz="1200" dirty="0"/>
          </a:p>
          <a:p>
            <a:pPr marL="285750" indent="-285750">
              <a:buFontTx/>
              <a:buChar char="-"/>
            </a:pPr>
            <a:endParaRPr lang="en-US" sz="1200" dirty="0"/>
          </a:p>
          <a:p>
            <a:pPr marL="285750" indent="-285750">
              <a:buFontTx/>
              <a:buChar char="-"/>
            </a:pPr>
            <a:endParaRPr lang="en-US" sz="1200" dirty="0"/>
          </a:p>
          <a:p>
            <a:pPr marL="285750" indent="-285750">
              <a:buFontTx/>
              <a:buChar char="-"/>
            </a:pPr>
            <a:endParaRPr lang="en-US" sz="1200" dirty="0"/>
          </a:p>
          <a:p>
            <a:pPr marL="285750" indent="-285750">
              <a:buFontTx/>
              <a:buChar char="-"/>
            </a:pPr>
            <a:endParaRPr lang="en-US" sz="1200" dirty="0"/>
          </a:p>
          <a:p>
            <a:pPr marL="285750" indent="-285750">
              <a:buFontTx/>
              <a:buChar char="-"/>
            </a:pPr>
            <a:endParaRPr lang="en-US" sz="1200" dirty="0"/>
          </a:p>
          <a:p>
            <a:pPr marL="285750" indent="-285750">
              <a:buFontTx/>
              <a:buChar char="-"/>
            </a:pPr>
            <a:r>
              <a:rPr lang="en-US" sz="1200" dirty="0"/>
              <a:t>When we are pulling </a:t>
            </a:r>
            <a:r>
              <a:rPr lang="en-US" sz="1200" dirty="0" err="1"/>
              <a:t>os</a:t>
            </a:r>
            <a:r>
              <a:rPr lang="en-US" sz="1200" dirty="0"/>
              <a:t> like ubuntu, its not going to pull entire OS, only some utility files and rest will be used from host </a:t>
            </a:r>
            <a:r>
              <a:rPr lang="en-US" sz="1200" dirty="0" err="1"/>
              <a:t>os</a:t>
            </a:r>
            <a:endParaRPr lang="en-US" sz="1200" dirty="0"/>
          </a:p>
          <a:p>
            <a:pPr marL="285750" indent="-285750">
              <a:buFontTx/>
              <a:buChar char="-"/>
            </a:pPr>
            <a:r>
              <a:rPr lang="en-US" sz="1200" dirty="0">
                <a:solidFill>
                  <a:srgbClr val="FF0000"/>
                </a:solidFill>
              </a:rPr>
              <a:t>How to Run any image directly inside the container?</a:t>
            </a:r>
          </a:p>
          <a:p>
            <a:pPr marL="285750" indent="-285750">
              <a:buFontTx/>
              <a:buChar char="-"/>
            </a:pPr>
            <a:r>
              <a:rPr lang="en-US" sz="1200" dirty="0"/>
              <a:t>docker run -it </a:t>
            </a:r>
            <a:r>
              <a:rPr lang="en-US" sz="1200" dirty="0" err="1"/>
              <a:t>kalilinux</a:t>
            </a:r>
            <a:r>
              <a:rPr lang="en-US" sz="1200" dirty="0"/>
              <a:t>/kali-rolling /bin/</a:t>
            </a:r>
            <a:r>
              <a:rPr lang="en-US" sz="1200" dirty="0" err="1"/>
              <a:t>sh</a:t>
            </a:r>
            <a:r>
              <a:rPr lang="en-US" sz="1200" dirty="0"/>
              <a:t> (“</a:t>
            </a:r>
            <a:r>
              <a:rPr lang="en-US" sz="1200" dirty="0" err="1"/>
              <a:t>kalilinux</a:t>
            </a:r>
            <a:r>
              <a:rPr lang="en-US" sz="1200" dirty="0"/>
              <a:t>/kali-rolling “ is the new image name)</a:t>
            </a:r>
          </a:p>
          <a:p>
            <a:pPr marL="285750" indent="-285750">
              <a:buFontTx/>
              <a:buChar char="-"/>
            </a:pPr>
            <a:endParaRPr lang="en-US" sz="1200" dirty="0"/>
          </a:p>
          <a:p>
            <a:pPr marL="285750" indent="-285750">
              <a:buFontTx/>
              <a:buChar char="-"/>
            </a:pPr>
            <a:endParaRPr lang="en-US" sz="1200" dirty="0"/>
          </a:p>
          <a:p>
            <a:r>
              <a:rPr lang="en-US" sz="1200" dirty="0"/>
              <a:t>      </a:t>
            </a:r>
          </a:p>
        </p:txBody>
      </p:sp>
      <p:pic>
        <p:nvPicPr>
          <p:cNvPr id="7" name="Picture 6">
            <a:extLst>
              <a:ext uri="{FF2B5EF4-FFF2-40B4-BE49-F238E27FC236}">
                <a16:creationId xmlns:a16="http://schemas.microsoft.com/office/drawing/2014/main" id="{BD889FF2-FA51-581B-829F-41AA10FBD89F}"/>
              </a:ext>
            </a:extLst>
          </p:cNvPr>
          <p:cNvPicPr>
            <a:picLocks noChangeAspect="1"/>
          </p:cNvPicPr>
          <p:nvPr/>
        </p:nvPicPr>
        <p:blipFill>
          <a:blip r:embed="rId2"/>
          <a:stretch>
            <a:fillRect/>
          </a:stretch>
        </p:blipFill>
        <p:spPr>
          <a:xfrm>
            <a:off x="740664" y="3088767"/>
            <a:ext cx="9496425" cy="1309497"/>
          </a:xfrm>
          <a:prstGeom prst="rect">
            <a:avLst/>
          </a:prstGeom>
        </p:spPr>
      </p:pic>
      <p:pic>
        <p:nvPicPr>
          <p:cNvPr id="9" name="Picture 8">
            <a:extLst>
              <a:ext uri="{FF2B5EF4-FFF2-40B4-BE49-F238E27FC236}">
                <a16:creationId xmlns:a16="http://schemas.microsoft.com/office/drawing/2014/main" id="{B42CB7B2-4774-954A-E04F-BC4AB18216B7}"/>
              </a:ext>
            </a:extLst>
          </p:cNvPr>
          <p:cNvPicPr>
            <a:picLocks noChangeAspect="1"/>
          </p:cNvPicPr>
          <p:nvPr/>
        </p:nvPicPr>
        <p:blipFill>
          <a:blip r:embed="rId3"/>
          <a:stretch>
            <a:fillRect/>
          </a:stretch>
        </p:blipFill>
        <p:spPr>
          <a:xfrm>
            <a:off x="740663" y="5145840"/>
            <a:ext cx="9496425" cy="1410408"/>
          </a:xfrm>
          <a:prstGeom prst="rect">
            <a:avLst/>
          </a:prstGeom>
        </p:spPr>
      </p:pic>
      <p:pic>
        <p:nvPicPr>
          <p:cNvPr id="10" name="Picture 4" descr="Docker for Developers: Understanding the Core Concepts – Code with Dan Blog">
            <a:extLst>
              <a:ext uri="{FF2B5EF4-FFF2-40B4-BE49-F238E27FC236}">
                <a16:creationId xmlns:a16="http://schemas.microsoft.com/office/drawing/2014/main" id="{18384F9D-C38A-F4FE-1275-6135A0D762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1517" y="0"/>
            <a:ext cx="889747" cy="58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0430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80EC81-00B5-BB1E-8459-9C4CF2E67A63}"/>
              </a:ext>
            </a:extLst>
          </p:cNvPr>
          <p:cNvSpPr txBox="1"/>
          <p:nvPr/>
        </p:nvSpPr>
        <p:spPr>
          <a:xfrm>
            <a:off x="530353" y="722376"/>
            <a:ext cx="6556248" cy="5047536"/>
          </a:xfrm>
          <a:prstGeom prst="rect">
            <a:avLst/>
          </a:prstGeom>
          <a:noFill/>
        </p:spPr>
        <p:txBody>
          <a:bodyPr wrap="square" rtlCol="0">
            <a:spAutoFit/>
          </a:bodyPr>
          <a:lstStyle/>
          <a:p>
            <a:pPr marL="285750" indent="-285750">
              <a:buFontTx/>
              <a:buChar char="-"/>
            </a:pPr>
            <a:r>
              <a:rPr lang="en-US" sz="1400" dirty="0"/>
              <a:t>There are 2 ways to execute container: detach mode “-d” and interactive mode “-</a:t>
            </a:r>
            <a:r>
              <a:rPr lang="en-US" sz="1400" dirty="0" err="1"/>
              <a:t>i</a:t>
            </a:r>
            <a:r>
              <a:rPr lang="en-US" sz="1400" dirty="0"/>
              <a:t>”</a:t>
            </a:r>
          </a:p>
          <a:p>
            <a:pPr marL="285750" indent="-285750">
              <a:buFontTx/>
              <a:buChar char="-"/>
            </a:pPr>
            <a:r>
              <a:rPr lang="en-US" sz="1400" dirty="0"/>
              <a:t>To delete docker image: docker </a:t>
            </a:r>
            <a:r>
              <a:rPr lang="en-US" sz="1400" dirty="0" err="1"/>
              <a:t>rmi</a:t>
            </a:r>
            <a:r>
              <a:rPr lang="en-US" sz="1400" dirty="0"/>
              <a:t> –f Jenkins/</a:t>
            </a:r>
            <a:r>
              <a:rPr lang="en-US" sz="1400" dirty="0" err="1"/>
              <a:t>Jenkins:lts</a:t>
            </a:r>
            <a:r>
              <a:rPr lang="en-US" sz="1400" dirty="0"/>
              <a:t> or docker </a:t>
            </a:r>
            <a:r>
              <a:rPr lang="en-US" sz="1400" dirty="0" err="1"/>
              <a:t>rmi</a:t>
            </a:r>
            <a:r>
              <a:rPr lang="en-US" sz="1400" dirty="0"/>
              <a:t> </a:t>
            </a:r>
            <a:r>
              <a:rPr lang="en-US" sz="1400" dirty="0" err="1"/>
              <a:t>redis</a:t>
            </a:r>
            <a:endParaRPr lang="en-US" sz="1400" dirty="0"/>
          </a:p>
          <a:p>
            <a:pPr marL="285750" indent="-285750">
              <a:buFontTx/>
              <a:buChar char="-"/>
            </a:pPr>
            <a:r>
              <a:rPr lang="en-US" sz="1400" dirty="0"/>
              <a:t>To run the image &amp; run it directly like Jenkins.. Which is not installed in our system but we can still run it using docker</a:t>
            </a:r>
          </a:p>
          <a:p>
            <a:pPr marL="285750" indent="-285750">
              <a:buFontTx/>
              <a:buChar char="-"/>
            </a:pPr>
            <a:r>
              <a:rPr lang="en-US" sz="1400" b="1" dirty="0"/>
              <a:t>docker run -p 8080:8080 </a:t>
            </a:r>
            <a:r>
              <a:rPr lang="en-US" sz="1400" b="1" dirty="0" err="1"/>
              <a:t>jenkins</a:t>
            </a:r>
            <a:r>
              <a:rPr lang="en-US" sz="1400" b="1" dirty="0"/>
              <a:t>/</a:t>
            </a:r>
            <a:r>
              <a:rPr lang="en-US" sz="1400" b="1" dirty="0" err="1"/>
              <a:t>jenkins:lts</a:t>
            </a:r>
            <a:endParaRPr lang="en-US" sz="1400" b="1" dirty="0"/>
          </a:p>
          <a:p>
            <a:pPr marL="285750" indent="-285750">
              <a:buFontTx/>
              <a:buChar char="-"/>
            </a:pPr>
            <a:endParaRPr lang="en-US" sz="1400" b="1" dirty="0"/>
          </a:p>
          <a:p>
            <a:pPr marL="285750" indent="-285750">
              <a:buFontTx/>
              <a:buChar char="-"/>
            </a:pPr>
            <a:r>
              <a:rPr lang="en-US" sz="1400" b="1" dirty="0"/>
              <a:t>How to create an image from container itself like we’re running an image inside container, how to share the image to next team?</a:t>
            </a:r>
          </a:p>
          <a:p>
            <a:pPr marL="285750" indent="-285750">
              <a:buFontTx/>
              <a:buChar char="-"/>
            </a:pPr>
            <a:endParaRPr lang="en-US" sz="1400" b="1" dirty="0"/>
          </a:p>
          <a:p>
            <a:pPr marL="285750" indent="-285750">
              <a:buFontTx/>
              <a:buChar char="-"/>
            </a:pPr>
            <a:r>
              <a:rPr lang="en-US" sz="1400" dirty="0"/>
              <a:t>We can ship these containers from 1 place to another that’s why we use docker.. To share containers b/w teams from development to testing to deployment teams</a:t>
            </a:r>
          </a:p>
          <a:p>
            <a:pPr marL="285750" indent="-285750">
              <a:buFontTx/>
              <a:buChar char="-"/>
            </a:pPr>
            <a:endParaRPr lang="en-US" sz="1400" dirty="0"/>
          </a:p>
          <a:p>
            <a:pPr marL="285750" indent="-285750">
              <a:buFontTx/>
              <a:buChar char="-"/>
            </a:pPr>
            <a:r>
              <a:rPr lang="en-US" sz="1400" b="1" dirty="0"/>
              <a:t>Run ubuntu container &amp; make some changes to it and share it</a:t>
            </a:r>
          </a:p>
          <a:p>
            <a:pPr marL="285750" indent="-285750">
              <a:buFontTx/>
              <a:buChar char="-"/>
            </a:pPr>
            <a:r>
              <a:rPr lang="en-US" sz="1400" dirty="0"/>
              <a:t>docker run --name </a:t>
            </a:r>
            <a:r>
              <a:rPr lang="en-US" sz="1400" dirty="0" err="1"/>
              <a:t>mycontainerpras</a:t>
            </a:r>
            <a:r>
              <a:rPr lang="en-US" sz="1400" dirty="0"/>
              <a:t> -it ubuntu /bin/bash</a:t>
            </a:r>
          </a:p>
          <a:p>
            <a:pPr marL="285750" indent="-285750">
              <a:buFontTx/>
              <a:buChar char="-"/>
            </a:pPr>
            <a:r>
              <a:rPr lang="en-US" sz="1400" dirty="0"/>
              <a:t>cd </a:t>
            </a:r>
            <a:r>
              <a:rPr lang="en-US" sz="1400" dirty="0" err="1"/>
              <a:t>tmp</a:t>
            </a:r>
            <a:r>
              <a:rPr lang="en-US" sz="1400" dirty="0"/>
              <a:t> &amp; touch myfile.txt to create new file (as developer we write app file)</a:t>
            </a:r>
          </a:p>
          <a:p>
            <a:pPr marL="285750" indent="-285750">
              <a:buFontTx/>
              <a:buChar char="-"/>
            </a:pPr>
            <a:r>
              <a:rPr lang="en-US" sz="1400" dirty="0"/>
              <a:t>To check what changes we have made:</a:t>
            </a:r>
          </a:p>
          <a:p>
            <a:pPr marL="285750" indent="-285750">
              <a:buFontTx/>
              <a:buChar char="-"/>
            </a:pPr>
            <a:r>
              <a:rPr lang="en-US" sz="1400" dirty="0"/>
              <a:t>docker diff &lt;container name&gt;</a:t>
            </a:r>
          </a:p>
          <a:p>
            <a:pPr marL="285750" indent="-285750">
              <a:buFontTx/>
              <a:buChar char="-"/>
            </a:pPr>
            <a:r>
              <a:rPr lang="en-US" sz="1400" dirty="0"/>
              <a:t>Now we can share this directly to my testing team, we can create image from this container .</a:t>
            </a:r>
          </a:p>
          <a:p>
            <a:pPr marL="285750" indent="-285750">
              <a:buFontTx/>
              <a:buChar char="-"/>
            </a:pPr>
            <a:r>
              <a:rPr lang="en-US" sz="1400" dirty="0"/>
              <a:t>docker commit &lt;container name&gt; &lt;updated image name&gt;</a:t>
            </a:r>
          </a:p>
          <a:p>
            <a:pPr marL="285750" indent="-285750">
              <a:buFontTx/>
              <a:buChar char="-"/>
            </a:pPr>
            <a:r>
              <a:rPr lang="en-US" sz="1400" b="1" dirty="0"/>
              <a:t>docker commit </a:t>
            </a:r>
            <a:r>
              <a:rPr lang="en-US" sz="1400" b="1" dirty="0" err="1"/>
              <a:t>mycontainerpras</a:t>
            </a:r>
            <a:r>
              <a:rPr lang="en-US" sz="1400" b="1" dirty="0"/>
              <a:t> </a:t>
            </a:r>
            <a:r>
              <a:rPr lang="en-US" sz="1400" b="1" dirty="0" err="1"/>
              <a:t>mycontainerprasimage</a:t>
            </a:r>
            <a:endParaRPr lang="en-US" sz="1400" b="1" dirty="0"/>
          </a:p>
          <a:p>
            <a:pPr marL="285750" indent="-285750">
              <a:buFontTx/>
              <a:buChar char="-"/>
            </a:pPr>
            <a:r>
              <a:rPr lang="en-US" sz="1400" dirty="0"/>
              <a:t>Now we can push this image to docker hub, which anybody can pull &amp; use</a:t>
            </a:r>
          </a:p>
          <a:p>
            <a:pPr marL="285750" indent="-285750">
              <a:buFontTx/>
              <a:buChar char="-"/>
            </a:pPr>
            <a:endParaRPr lang="en-US" sz="1400" b="1" dirty="0"/>
          </a:p>
        </p:txBody>
      </p:sp>
      <p:pic>
        <p:nvPicPr>
          <p:cNvPr id="5" name="Picture 4">
            <a:extLst>
              <a:ext uri="{FF2B5EF4-FFF2-40B4-BE49-F238E27FC236}">
                <a16:creationId xmlns:a16="http://schemas.microsoft.com/office/drawing/2014/main" id="{C1A14A7E-4717-2E5D-9A50-A4E1B7EF5B9F}"/>
              </a:ext>
            </a:extLst>
          </p:cNvPr>
          <p:cNvPicPr>
            <a:picLocks noChangeAspect="1"/>
          </p:cNvPicPr>
          <p:nvPr/>
        </p:nvPicPr>
        <p:blipFill>
          <a:blip r:embed="rId2"/>
          <a:stretch>
            <a:fillRect/>
          </a:stretch>
        </p:blipFill>
        <p:spPr>
          <a:xfrm>
            <a:off x="7193547" y="59436"/>
            <a:ext cx="4876082" cy="3172968"/>
          </a:xfrm>
          <a:prstGeom prst="rect">
            <a:avLst/>
          </a:prstGeom>
        </p:spPr>
      </p:pic>
      <p:pic>
        <p:nvPicPr>
          <p:cNvPr id="1028" name="Picture 4" descr="Docker for Developers: Understanding the Core Concepts – Code with Dan Blog">
            <a:extLst>
              <a:ext uri="{FF2B5EF4-FFF2-40B4-BE49-F238E27FC236}">
                <a16:creationId xmlns:a16="http://schemas.microsoft.com/office/drawing/2014/main" id="{1368A1F2-CFBD-ADA8-7C7E-8B552AAC19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0541" y="0"/>
            <a:ext cx="889747" cy="58555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3E524C25-5774-E11F-9A19-FC7B1D49D332}"/>
              </a:ext>
            </a:extLst>
          </p:cNvPr>
          <p:cNvPicPr>
            <a:picLocks noChangeAspect="1"/>
          </p:cNvPicPr>
          <p:nvPr/>
        </p:nvPicPr>
        <p:blipFill>
          <a:blip r:embed="rId4"/>
          <a:stretch>
            <a:fillRect/>
          </a:stretch>
        </p:blipFill>
        <p:spPr>
          <a:xfrm>
            <a:off x="7193547" y="3166491"/>
            <a:ext cx="4775949" cy="984886"/>
          </a:xfrm>
          <a:prstGeom prst="rect">
            <a:avLst/>
          </a:prstGeom>
        </p:spPr>
      </p:pic>
      <p:cxnSp>
        <p:nvCxnSpPr>
          <p:cNvPr id="9" name="Straight Arrow Connector 8">
            <a:extLst>
              <a:ext uri="{FF2B5EF4-FFF2-40B4-BE49-F238E27FC236}">
                <a16:creationId xmlns:a16="http://schemas.microsoft.com/office/drawing/2014/main" id="{08B0769E-C3DF-2BC3-D46E-9A17468E3767}"/>
              </a:ext>
            </a:extLst>
          </p:cNvPr>
          <p:cNvCxnSpPr>
            <a:cxnSpLocks/>
          </p:cNvCxnSpPr>
          <p:nvPr/>
        </p:nvCxnSpPr>
        <p:spPr>
          <a:xfrm flipV="1">
            <a:off x="2991345" y="3705606"/>
            <a:ext cx="4102069" cy="557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705FDD7E-6F60-6AB7-DCAA-682EE8E73FB3}"/>
              </a:ext>
            </a:extLst>
          </p:cNvPr>
          <p:cNvPicPr>
            <a:picLocks noChangeAspect="1"/>
          </p:cNvPicPr>
          <p:nvPr/>
        </p:nvPicPr>
        <p:blipFill>
          <a:blip r:embed="rId5"/>
          <a:stretch>
            <a:fillRect/>
          </a:stretch>
        </p:blipFill>
        <p:spPr>
          <a:xfrm>
            <a:off x="7193547" y="4200489"/>
            <a:ext cx="4876082" cy="1600200"/>
          </a:xfrm>
          <a:prstGeom prst="rect">
            <a:avLst/>
          </a:prstGeom>
        </p:spPr>
      </p:pic>
      <p:cxnSp>
        <p:nvCxnSpPr>
          <p:cNvPr id="15" name="Straight Arrow Connector 14">
            <a:extLst>
              <a:ext uri="{FF2B5EF4-FFF2-40B4-BE49-F238E27FC236}">
                <a16:creationId xmlns:a16="http://schemas.microsoft.com/office/drawing/2014/main" id="{9AB10D01-CDA0-9FDD-6E8D-F4BE7DF5E2F0}"/>
              </a:ext>
            </a:extLst>
          </p:cNvPr>
          <p:cNvCxnSpPr>
            <a:cxnSpLocks/>
          </p:cNvCxnSpPr>
          <p:nvPr/>
        </p:nvCxnSpPr>
        <p:spPr>
          <a:xfrm flipV="1">
            <a:off x="4998454" y="4736592"/>
            <a:ext cx="2195093" cy="4206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9578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4168</TotalTime>
  <Words>1847</Words>
  <Application>Microsoft Office PowerPoint</Application>
  <PresentationFormat>Widescreen</PresentationFormat>
  <Paragraphs>187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Jain, Prashant (Consultant)</dc:creator>
  <cp:lastModifiedBy>Jain, Prashant (Consultant)</cp:lastModifiedBy>
  <cp:revision>179</cp:revision>
  <dcterms:created xsi:type="dcterms:W3CDTF">2024-11-03T07:25:45Z</dcterms:created>
  <dcterms:modified xsi:type="dcterms:W3CDTF">2024-11-06T13:15:39Z</dcterms:modified>
</cp:coreProperties>
</file>